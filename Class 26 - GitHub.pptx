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  <p:sldMasterId id="2147483735" r:id="rId2"/>
  </p:sldMasterIdLst>
  <p:notesMasterIdLst>
    <p:notesMasterId r:id="rId57"/>
  </p:notesMasterIdLst>
  <p:sldIdLst>
    <p:sldId id="256" r:id="rId3"/>
    <p:sldId id="523" r:id="rId4"/>
    <p:sldId id="522" r:id="rId5"/>
    <p:sldId id="459" r:id="rId6"/>
    <p:sldId id="464" r:id="rId7"/>
    <p:sldId id="461" r:id="rId8"/>
    <p:sldId id="466" r:id="rId9"/>
    <p:sldId id="498" r:id="rId10"/>
    <p:sldId id="467" r:id="rId11"/>
    <p:sldId id="468" r:id="rId12"/>
    <p:sldId id="494" r:id="rId13"/>
    <p:sldId id="469" r:id="rId14"/>
    <p:sldId id="470" r:id="rId15"/>
    <p:sldId id="474" r:id="rId16"/>
    <p:sldId id="475" r:id="rId17"/>
    <p:sldId id="495" r:id="rId18"/>
    <p:sldId id="476" r:id="rId19"/>
    <p:sldId id="472" r:id="rId20"/>
    <p:sldId id="500" r:id="rId21"/>
    <p:sldId id="496" r:id="rId22"/>
    <p:sldId id="477" r:id="rId23"/>
    <p:sldId id="473" r:id="rId24"/>
    <p:sldId id="478" r:id="rId25"/>
    <p:sldId id="512" r:id="rId26"/>
    <p:sldId id="513" r:id="rId27"/>
    <p:sldId id="514" r:id="rId28"/>
    <p:sldId id="502" r:id="rId29"/>
    <p:sldId id="518" r:id="rId30"/>
    <p:sldId id="520" r:id="rId31"/>
    <p:sldId id="501" r:id="rId32"/>
    <p:sldId id="519" r:id="rId33"/>
    <p:sldId id="521" r:id="rId34"/>
    <p:sldId id="509" r:id="rId35"/>
    <p:sldId id="510" r:id="rId36"/>
    <p:sldId id="505" r:id="rId37"/>
    <p:sldId id="506" r:id="rId38"/>
    <p:sldId id="511" r:id="rId39"/>
    <p:sldId id="497" r:id="rId40"/>
    <p:sldId id="480" r:id="rId41"/>
    <p:sldId id="465" r:id="rId42"/>
    <p:sldId id="479" r:id="rId43"/>
    <p:sldId id="482" r:id="rId44"/>
    <p:sldId id="499" r:id="rId45"/>
    <p:sldId id="481" r:id="rId46"/>
    <p:sldId id="493" r:id="rId47"/>
    <p:sldId id="515" r:id="rId48"/>
    <p:sldId id="483" r:id="rId49"/>
    <p:sldId id="485" r:id="rId50"/>
    <p:sldId id="486" r:id="rId51"/>
    <p:sldId id="487" r:id="rId52"/>
    <p:sldId id="488" r:id="rId53"/>
    <p:sldId id="489" r:id="rId54"/>
    <p:sldId id="490" r:id="rId55"/>
    <p:sldId id="491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36DD0B-760A-4E4D-AEF5-85A17CD9B2CE}">
          <p14:sldIdLst>
            <p14:sldId id="256"/>
            <p14:sldId id="523"/>
            <p14:sldId id="522"/>
            <p14:sldId id="459"/>
            <p14:sldId id="464"/>
            <p14:sldId id="461"/>
            <p14:sldId id="466"/>
            <p14:sldId id="498"/>
            <p14:sldId id="467"/>
            <p14:sldId id="468"/>
            <p14:sldId id="494"/>
            <p14:sldId id="469"/>
            <p14:sldId id="470"/>
            <p14:sldId id="474"/>
            <p14:sldId id="475"/>
            <p14:sldId id="495"/>
            <p14:sldId id="476"/>
            <p14:sldId id="472"/>
            <p14:sldId id="500"/>
            <p14:sldId id="496"/>
            <p14:sldId id="477"/>
            <p14:sldId id="473"/>
            <p14:sldId id="478"/>
            <p14:sldId id="512"/>
            <p14:sldId id="513"/>
            <p14:sldId id="514"/>
          </p14:sldIdLst>
        </p14:section>
        <p14:section name="Github account as a portfolio" id="{E60B86DD-4763-904D-A241-FB8F22C66055}">
          <p14:sldIdLst/>
        </p14:section>
        <p14:section name="Code quality" id="{82C93003-8ED8-E242-BD13-755A1D57878C}">
          <p14:sldIdLst>
            <p14:sldId id="502"/>
            <p14:sldId id="518"/>
            <p14:sldId id="520"/>
            <p14:sldId id="501"/>
            <p14:sldId id="519"/>
            <p14:sldId id="521"/>
          </p14:sldIdLst>
        </p14:section>
        <p14:section name="Templates" id="{D021DBC2-617D-744A-81C0-AF5478ACA463}">
          <p14:sldIdLst>
            <p14:sldId id="509"/>
            <p14:sldId id="510"/>
            <p14:sldId id="505"/>
            <p14:sldId id="506"/>
            <p14:sldId id="511"/>
          </p14:sldIdLst>
        </p14:section>
        <p14:section name="multidevleloper" id="{5CC3A408-439F-924C-8F46-7E88860922A6}">
          <p14:sldIdLst>
            <p14:sldId id="497"/>
            <p14:sldId id="480"/>
            <p14:sldId id="465"/>
            <p14:sldId id="479"/>
            <p14:sldId id="482"/>
            <p14:sldId id="499"/>
            <p14:sldId id="481"/>
            <p14:sldId id="493"/>
            <p14:sldId id="515"/>
            <p14:sldId id="483"/>
            <p14:sldId id="485"/>
            <p14:sldId id="486"/>
            <p14:sldId id="487"/>
            <p14:sldId id="488"/>
            <p14:sldId id="489"/>
            <p14:sldId id="490"/>
            <p14:sldId id="4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5637"/>
    <a:srgbClr val="E5E9E8"/>
    <a:srgbClr val="5172B1"/>
    <a:srgbClr val="E88B1F"/>
    <a:srgbClr val="6ABD44"/>
    <a:srgbClr val="ECC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2013" autoAdjust="0"/>
  </p:normalViewPr>
  <p:slideViewPr>
    <p:cSldViewPr snapToGrid="0">
      <p:cViewPr varScale="1">
        <p:scale>
          <a:sx n="88" d="100"/>
          <a:sy n="88" d="100"/>
        </p:scale>
        <p:origin x="4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7D112CE8-1034-41F4-B769-2EDB0504C526}"/>
    <pc:docChg chg="custSel addSld delSld modSld sldOrd modSection">
      <pc:chgData name="Redmond, Michael A" userId="6b2689ca-cbb8-4f35-85b9-c472fe3ea77d" providerId="ADAL" clId="{7D112CE8-1034-41F4-B769-2EDB0504C526}" dt="2025-04-30T10:43:42.218" v="24" actId="47"/>
      <pc:docMkLst>
        <pc:docMk/>
      </pc:docMkLst>
      <pc:sldChg chg="ord">
        <pc:chgData name="Redmond, Michael A" userId="6b2689ca-cbb8-4f35-85b9-c472fe3ea77d" providerId="ADAL" clId="{7D112CE8-1034-41F4-B769-2EDB0504C526}" dt="2025-04-30T10:43:39.721" v="23"/>
        <pc:sldMkLst>
          <pc:docMk/>
          <pc:sldMk cId="2634451205" sldId="480"/>
        </pc:sldMkLst>
      </pc:sldChg>
      <pc:sldChg chg="addSp delSp modSp new del mod modClrScheme chgLayout">
        <pc:chgData name="Redmond, Michael A" userId="6b2689ca-cbb8-4f35-85b9-c472fe3ea77d" providerId="ADAL" clId="{7D112CE8-1034-41F4-B769-2EDB0504C526}" dt="2025-04-30T10:43:42.218" v="24" actId="47"/>
        <pc:sldMkLst>
          <pc:docMk/>
          <pc:sldMk cId="2365331985" sldId="524"/>
        </pc:sldMkLst>
        <pc:spChg chg="del mod ord">
          <ac:chgData name="Redmond, Michael A" userId="6b2689ca-cbb8-4f35-85b9-c472fe3ea77d" providerId="ADAL" clId="{7D112CE8-1034-41F4-B769-2EDB0504C526}" dt="2025-04-30T10:43:09.240" v="1" actId="700"/>
          <ac:spMkLst>
            <pc:docMk/>
            <pc:sldMk cId="2365331985" sldId="524"/>
            <ac:spMk id="2" creationId="{BF43FE53-27A9-F88D-7849-DB9B9A9EB02B}"/>
          </ac:spMkLst>
        </pc:spChg>
        <pc:spChg chg="del mod ord">
          <ac:chgData name="Redmond, Michael A" userId="6b2689ca-cbb8-4f35-85b9-c472fe3ea77d" providerId="ADAL" clId="{7D112CE8-1034-41F4-B769-2EDB0504C526}" dt="2025-04-30T10:43:09.240" v="1" actId="700"/>
          <ac:spMkLst>
            <pc:docMk/>
            <pc:sldMk cId="2365331985" sldId="524"/>
            <ac:spMk id="3" creationId="{94CD7CED-F948-3EE0-613D-973DD603AE84}"/>
          </ac:spMkLst>
        </pc:spChg>
        <pc:spChg chg="add mod ord">
          <ac:chgData name="Redmond, Michael A" userId="6b2689ca-cbb8-4f35-85b9-c472fe3ea77d" providerId="ADAL" clId="{7D112CE8-1034-41F4-B769-2EDB0504C526}" dt="2025-04-30T10:43:16.532" v="21" actId="20577"/>
          <ac:spMkLst>
            <pc:docMk/>
            <pc:sldMk cId="2365331985" sldId="524"/>
            <ac:spMk id="4" creationId="{4F1D9114-4E7B-7A38-BF47-BA23ABC48445}"/>
          </ac:spMkLst>
        </pc:spChg>
        <pc:spChg chg="add mod ord">
          <ac:chgData name="Redmond, Michael A" userId="6b2689ca-cbb8-4f35-85b9-c472fe3ea77d" providerId="ADAL" clId="{7D112CE8-1034-41F4-B769-2EDB0504C526}" dt="2025-04-30T10:43:09.240" v="1" actId="700"/>
          <ac:spMkLst>
            <pc:docMk/>
            <pc:sldMk cId="2365331985" sldId="524"/>
            <ac:spMk id="5" creationId="{69EA948C-B0B0-8244-8730-E153DB31AB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7285-F4C3-486D-A199-B96B6C01A72E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211E6-B8DF-42C3-95A1-E14B54059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9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211E6-B8DF-42C3-95A1-E14B5405958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2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BFF0383-6B58-6F4F-BFDD-EFB4D153C499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0B2C90A-E3CF-8049-9D11-023AE26BFB6C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9F116E0-FA89-4A40-8FEB-547FC453304C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C71833C-FBC5-374A-927A-D0F3179D79E0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50BAF16-F309-E148-B88A-5DF5862A5628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B4CF661-2DDC-914B-894B-43AB84B55B84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44E548E-AE5B-0F4D-9D3C-253E1F28A7BB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1D1AD7F-6BC6-D246-9006-27C2CA791130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971B74E-8548-8040-9DE4-5A9A20776B14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0310397-C46C-5F44-8542-989EB1F80961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7F69511-BD79-714D-82A5-8EB34C234E9C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3AA3FAD-1D31-CD48-965E-40FEB59D9FBC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208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A73AA-F8EF-9CA7-97FE-E82F05B68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F81B0-ED92-BDA6-DF0B-B5DB6906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D0CA4-FC84-9CE7-0535-30482C19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2BAA7E-AEEF-A348-9217-005E3BC31789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0C7EE-002D-8925-83B0-9CCF6FA5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E8CC8-9A30-EA81-7C5C-16B7FD1E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208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426E-1AA8-8156-976C-AD8279B7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3F25-934E-1367-7188-E568DBFB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4AE59-5638-5AD6-1581-C86A76C2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F3624C-170A-B644-8BD4-282519C52330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8B58-F996-BE9D-6F0C-DAFB9064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419B0-ABE0-5B08-6B34-7809B918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22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A2CF-500C-CA93-E069-6026F0C4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9B29E-FA3C-FAF7-C816-9BA111112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640BA-4C4C-8B85-97A1-A268F7A0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1559EC-16EA-5145-8A69-3655188B9DDA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9C62-FED1-9BF0-B7B4-4BB75ECC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65090-6365-7F98-4DDD-0189A899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36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4811-2E52-1FC1-E373-6F2B8D8A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4A5A9-3846-06B8-6494-0A43E582D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5F84B-E6B2-1B94-BACC-1748B4F5C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1242-F995-F7D7-7D51-C1D2D7E0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428ABD-D3CA-4A4A-A4E4-590D39F15A42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E0E53-B45A-B711-374C-4C9BD6C40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A01D-AC2C-C739-3B05-5A3B6B22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97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D7A-5A3C-0978-A939-26B5EEDC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84DEA-77F2-D83E-47E3-E5CD71024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314A2-798C-3B0B-EDF2-B579B6EEB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51D7-A516-F237-7BB2-249B9BE6E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078E5-E39B-031D-F216-FF02D8C9A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5D6EE-9B57-142A-030E-FA4D36B8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EB4D50-B648-124C-8462-63312A3BC951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F87E4B-6A2F-EE6F-9B06-04AD0A11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80DD6-2A10-1956-C51B-0C287F57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913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E8D4-D114-451D-79E3-93CCD142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512F5-07B7-0A6B-1ADF-30586C99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2BCD58-6E3C-8846-B6FC-B25B229671EE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29A31-4BED-B210-2BBF-24426FB3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D6291-ACAE-7E3F-40E5-D887FC64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9137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EA5AB-9E51-A5F1-2256-FF054B10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35E475-DFF5-754B-B897-2439DC1EED12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10DC0-39CF-71EE-BA63-E41AE8A0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730DC-089A-5F40-3E47-33B3901A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04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FA74-B0F5-C5B4-D4B0-C7A4FEA2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690CC-79A2-ECBF-DFD4-1AF3B3270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2A220-FC9C-9771-694D-175E8F112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B511D-120B-320A-356C-5FAFCD25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85AD29-A1C4-6140-AC1C-7555069ACB0E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FC144-3EF3-6EB8-A124-8DCFB7BA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3B08C-0A80-EE8E-EB8B-FF408429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280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47AC-93D6-D369-1430-8F3E9B24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7C5FB-FF82-FF2A-BCA4-FB9F8FD37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C9340-7840-7F97-295B-F84571716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69EB1-6153-7585-2098-E81221B8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09C7C4-5AB7-A040-9734-44A5E5D92400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124EA-C3BD-C151-420E-C97B43E6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50D73-B20F-D2D3-C3BB-B374312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76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B8E5-DD6B-DE2D-4262-840D4D18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ACF0A-CE4B-1F27-3D34-C5EE86D85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F83BF-98E8-34E0-E986-69F9072A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226332-31B5-F840-9FDF-3ED5C52AAEBF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F252A-31EA-3D44-30ED-58E8C892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9801F-9E0E-0491-0E75-24E7AEB4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544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B2FD8-97EA-7B41-0571-D90802DBD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DEDB3-76E2-7C62-1615-7F3F8DA9D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7DBA-0CBC-BD41-03EE-4B760409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5ED9B-E32D-734A-9DFC-D5046EF5853E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69B4C-4A90-9560-0675-D02F9DFF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B1B2F-54C8-016E-7AD2-B5A95DF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64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95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21" r:id="rId13"/>
    <p:sldLayoutId id="2147483734" r:id="rId14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13882-B468-1E17-7D1E-D610EBF30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94F85-9261-6E52-C400-18D12DE8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501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yanM45/Data-Science-Project-Readme-Template" TargetMode="External"/><Relationship Id="rId7" Type="http://schemas.openxmlformats.org/officeDocument/2006/relationships/hyperlink" Target="https://github.com/mikecolbert/README-template" TargetMode="External"/><Relationship Id="rId2" Type="http://schemas.openxmlformats.org/officeDocument/2006/relationships/hyperlink" Target="https://github.com/PurpleBooth/a-good-readme-template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github.com/jamessizeland/python-analytics-template" TargetMode="External"/><Relationship Id="rId5" Type="http://schemas.openxmlformats.org/officeDocument/2006/relationships/hyperlink" Target="https://github.com/ahgroup/data-analysis-template/tree/main" TargetMode="External"/><Relationship Id="rId4" Type="http://schemas.openxmlformats.org/officeDocument/2006/relationships/hyperlink" Target="https://github.com/vanderbilt-data-science/repo-template-2024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pyter-naas/awesome-notebooks/blob/master/Advertools/Advertools_Analyze_website_content_using_XML_sitemap.ipynb" TargetMode="External"/><Relationship Id="rId2" Type="http://schemas.openxmlformats.org/officeDocument/2006/relationships/hyperlink" Target="https://github.com/xtreamsrl/jupytemplate/blob/master/jupytemplate/jupytemplate/template.ipynb" TargetMode="Externa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github.com/SUKHMAN-SINGH-1612/Data-Science-Projects/blob/main/Crop%20Yield%20Prediction/crop%20yield%20prediction.ipynb" TargetMode="External"/><Relationship Id="rId4" Type="http://schemas.openxmlformats.org/officeDocument/2006/relationships/hyperlink" Target="https://gist.github.com/Jufcferrari/ebd6dd8ebb6b3257a169efb4b629d988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81835"/>
            <a:ext cx="10363200" cy="1470025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GitHub &amp; Project Sharing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749040"/>
            <a:ext cx="8534400" cy="617220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BAIS:3250 </a:t>
            </a:r>
            <a:r>
              <a:rPr lang="mr-IN" dirty="0">
                <a:latin typeface="Segoe UI" panose="020B0502040204020203" pitchFamily="34" charset="0"/>
              </a:rPr>
              <a:t>–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Data Wrangling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 flipV="1">
            <a:off x="805815" y="3451860"/>
            <a:ext cx="10580370" cy="114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7CEBF5B-C412-2E6D-B66D-1BD083852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863" y="4366260"/>
            <a:ext cx="1974273" cy="197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0C22-2690-299A-8DD6-CB9B01A1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21209-73AC-1ACE-2CAE-38EE59B3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751"/>
            <a:ext cx="10515600" cy="4351338"/>
          </a:xfrm>
        </p:spPr>
        <p:txBody>
          <a:bodyPr/>
          <a:lstStyle/>
          <a:p>
            <a:r>
              <a:rPr lang="en-US" dirty="0"/>
              <a:t>Can use directly with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r>
              <a:rPr lang="en-US" dirty="0"/>
              <a:t>Easy to collaborate across Google accounts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7FDE1-0E11-FE07-9311-48DC08CF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6481"/>
            <a:ext cx="12192000" cy="40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4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2C14-E7AA-4334-6DDA-461C0C12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IDAS – Interactive Data Analytics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0ABEB-6ECD-BB68-C42D-7F050F63E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https://idas.uiowa.edu/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4CB75-89C4-1B8D-91E8-C31F09198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2579756"/>
            <a:ext cx="11450648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9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5453-5F98-9C15-4298-8AD73C7A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version control?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0EDB4-2F79-820F-F351-D831B888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0" y="1804114"/>
            <a:ext cx="8204200" cy="462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6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5F7B-8F08-A477-A419-563F4C42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version control?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13F7B-7CC2-CD60-B133-475E74B6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 A system that keeps records of your changes. 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 Entire code and history is stored on your local computer.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2800" b="1" dirty="0"/>
              <a:t> Allows you to revert any changes and go back to a previous state.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CA" b="1" dirty="0"/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 Allows for collaborative development.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 Allows you to know who made what changes and when. 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469D085-0801-415B-EE17-65820C4910D1}"/>
              </a:ext>
            </a:extLst>
          </p:cNvPr>
          <p:cNvSpPr/>
          <p:nvPr/>
        </p:nvSpPr>
        <p:spPr>
          <a:xfrm>
            <a:off x="9779431" y="4262034"/>
            <a:ext cx="402955" cy="13638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15812-4D3E-A887-3773-7D77386183BF}"/>
              </a:ext>
            </a:extLst>
          </p:cNvPr>
          <p:cNvSpPr txBox="1"/>
          <p:nvPr/>
        </p:nvSpPr>
        <p:spPr>
          <a:xfrm>
            <a:off x="10368366" y="4620793"/>
            <a:ext cx="1384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ABD44"/>
                </a:solidFill>
              </a:rPr>
              <a:t>REMOTE</a:t>
            </a:r>
          </a:p>
          <a:p>
            <a:r>
              <a:rPr lang="en-US" b="1" dirty="0">
                <a:solidFill>
                  <a:srgbClr val="6ABD44"/>
                </a:solidFill>
              </a:rPr>
              <a:t>REPOSITORY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D2514-A726-9A96-238D-8F7C29CF7A04}"/>
              </a:ext>
            </a:extLst>
          </p:cNvPr>
          <p:cNvSpPr txBox="1"/>
          <p:nvPr/>
        </p:nvSpPr>
        <p:spPr>
          <a:xfrm>
            <a:off x="9512957" y="2411300"/>
            <a:ext cx="1384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ABD44"/>
                </a:solidFill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414297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9FFD-F4FD-1B9A-7574-22A0DD84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5418-7450-757D-1C00-F0533CECD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1292" cy="1352792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r>
              <a:rPr lang="en-US" b="1" dirty="0"/>
              <a:t>Local</a:t>
            </a:r>
            <a:r>
              <a:rPr lang="en-US" dirty="0"/>
              <a:t> version control</a:t>
            </a:r>
          </a:p>
          <a:p>
            <a:r>
              <a:rPr lang="en-US" dirty="0"/>
              <a:t>Repositories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1A7204-FB98-DE50-3B8A-9EA17088A833}"/>
              </a:ext>
            </a:extLst>
          </p:cNvPr>
          <p:cNvSpPr/>
          <p:nvPr/>
        </p:nvSpPr>
        <p:spPr>
          <a:xfrm>
            <a:off x="6261315" y="737058"/>
            <a:ext cx="1410346" cy="523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BAAFC0-A12F-7C6C-AAA4-79FEEA0AF5C7}"/>
              </a:ext>
            </a:extLst>
          </p:cNvPr>
          <p:cNvSpPr/>
          <p:nvPr/>
        </p:nvSpPr>
        <p:spPr>
          <a:xfrm>
            <a:off x="7286788" y="1533096"/>
            <a:ext cx="1410346" cy="523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569154-8EBD-0B88-B852-B2293B2A9B1D}"/>
              </a:ext>
            </a:extLst>
          </p:cNvPr>
          <p:cNvSpPr/>
          <p:nvPr/>
        </p:nvSpPr>
        <p:spPr>
          <a:xfrm>
            <a:off x="8291595" y="2318746"/>
            <a:ext cx="1410346" cy="523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Project_1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223891-0CC5-D635-80F1-60A30A79FF63}"/>
              </a:ext>
            </a:extLst>
          </p:cNvPr>
          <p:cNvSpPr/>
          <p:nvPr/>
        </p:nvSpPr>
        <p:spPr>
          <a:xfrm>
            <a:off x="8291595" y="3147770"/>
            <a:ext cx="1410346" cy="523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Project_2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4FAA65-DCBE-11FB-B06F-0E53540D5F16}"/>
              </a:ext>
            </a:extLst>
          </p:cNvPr>
          <p:cNvSpPr/>
          <p:nvPr/>
        </p:nvSpPr>
        <p:spPr>
          <a:xfrm>
            <a:off x="9244741" y="3956936"/>
            <a:ext cx="1410346" cy="523767"/>
          </a:xfrm>
          <a:prstGeom prst="roundRect">
            <a:avLst/>
          </a:prstGeom>
          <a:solidFill>
            <a:srgbClr val="E88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.git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F4BCFB-92E9-DD54-189A-458E213692A6}"/>
              </a:ext>
            </a:extLst>
          </p:cNvPr>
          <p:cNvSpPr/>
          <p:nvPr/>
        </p:nvSpPr>
        <p:spPr>
          <a:xfrm>
            <a:off x="9244741" y="4648523"/>
            <a:ext cx="1410346" cy="523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Folder_1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1A541-1055-389C-7372-9414C7B4F787}"/>
              </a:ext>
            </a:extLst>
          </p:cNvPr>
          <p:cNvSpPr/>
          <p:nvPr/>
        </p:nvSpPr>
        <p:spPr>
          <a:xfrm>
            <a:off x="9244741" y="6186782"/>
            <a:ext cx="1038386" cy="426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file_1.txt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390D143-0BB3-12E9-1741-E3F80B333392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6859561" y="1367752"/>
            <a:ext cx="534155" cy="32030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FAC99B1-23E0-1900-DCEC-85D52FAE5F9D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7879895" y="2168929"/>
            <a:ext cx="523767" cy="299634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CABC25F-48CE-FF46-D30D-1806488415BC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7465383" y="2583441"/>
            <a:ext cx="1352791" cy="299634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C565698-C741-C540-26A5-743B0723C7A9}"/>
              </a:ext>
            </a:extLst>
          </p:cNvPr>
          <p:cNvCxnSpPr>
            <a:stCxn id="7" idx="2"/>
            <a:endCxn id="8" idx="1"/>
          </p:cNvCxnSpPr>
          <p:nvPr/>
        </p:nvCxnSpPr>
        <p:spPr>
          <a:xfrm rot="16200000" flipH="1">
            <a:off x="8847113" y="3821191"/>
            <a:ext cx="547283" cy="247973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41829-69E9-9A7C-91C7-119A165E4E50}"/>
              </a:ext>
            </a:extLst>
          </p:cNvPr>
          <p:cNvSpPr/>
          <p:nvPr/>
        </p:nvSpPr>
        <p:spPr>
          <a:xfrm>
            <a:off x="10099730" y="5309140"/>
            <a:ext cx="1697317" cy="426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other_file.ipynb</a:t>
            </a:r>
            <a:endParaRPr lang="en-US" dirty="0"/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3D074F0-5ED1-0AB2-067D-B5E6CA9BA063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16200000" flipH="1">
            <a:off x="8501319" y="4166985"/>
            <a:ext cx="1238870" cy="247973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4F3E254-D2C9-F8CC-65F9-602496BFF1E0}"/>
              </a:ext>
            </a:extLst>
          </p:cNvPr>
          <p:cNvCxnSpPr>
            <a:stCxn id="7" idx="2"/>
            <a:endCxn id="10" idx="1"/>
          </p:cNvCxnSpPr>
          <p:nvPr/>
        </p:nvCxnSpPr>
        <p:spPr>
          <a:xfrm rot="16200000" flipH="1">
            <a:off x="7756581" y="4911723"/>
            <a:ext cx="2728347" cy="247973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E670F4C8-709B-8DD6-919C-20FB148A0C3D}"/>
              </a:ext>
            </a:extLst>
          </p:cNvPr>
          <p:cNvCxnSpPr>
            <a:cxnSpLocks/>
            <a:stCxn id="9" idx="2"/>
            <a:endCxn id="19" idx="1"/>
          </p:cNvCxnSpPr>
          <p:nvPr/>
        </p:nvCxnSpPr>
        <p:spPr>
          <a:xfrm rot="16200000" flipH="1">
            <a:off x="9849846" y="5272358"/>
            <a:ext cx="349952" cy="149816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8787DE1-C9A2-95D5-F7AC-897241B844E5}"/>
              </a:ext>
            </a:extLst>
          </p:cNvPr>
          <p:cNvSpPr/>
          <p:nvPr/>
        </p:nvSpPr>
        <p:spPr>
          <a:xfrm>
            <a:off x="8141777" y="3022169"/>
            <a:ext cx="3874211" cy="3704095"/>
          </a:xfrm>
          <a:prstGeom prst="rect">
            <a:avLst/>
          </a:prstGeom>
          <a:noFill/>
          <a:ln w="28575">
            <a:solidFill>
              <a:srgbClr val="E88B1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7D66C6-3C1E-D578-A24B-327C30533632}"/>
              </a:ext>
            </a:extLst>
          </p:cNvPr>
          <p:cNvSpPr txBox="1"/>
          <p:nvPr/>
        </p:nvSpPr>
        <p:spPr>
          <a:xfrm>
            <a:off x="6246269" y="4342815"/>
            <a:ext cx="16785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E88B1F"/>
                </a:solidFill>
              </a:rPr>
              <a:t>local</a:t>
            </a:r>
          </a:p>
          <a:p>
            <a:pPr algn="r"/>
            <a:r>
              <a:rPr lang="en-US" sz="2800" dirty="0">
                <a:solidFill>
                  <a:srgbClr val="E88B1F"/>
                </a:solidFill>
              </a:rPr>
              <a:t>repository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755504-F73E-B2C0-C90F-9C487519D0E5}"/>
              </a:ext>
            </a:extLst>
          </p:cNvPr>
          <p:cNvSpPr txBox="1"/>
          <p:nvPr/>
        </p:nvSpPr>
        <p:spPr>
          <a:xfrm>
            <a:off x="5222929" y="5634323"/>
            <a:ext cx="3014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.git is a hidden folder</a:t>
            </a:r>
          </a:p>
          <a:p>
            <a:endParaRPr lang="en-US" sz="2400" dirty="0"/>
          </a:p>
        </p:txBody>
      </p:sp>
      <p:sp>
        <p:nvSpPr>
          <p:cNvPr id="31" name="Can 30">
            <a:extLst>
              <a:ext uri="{FF2B5EF4-FFF2-40B4-BE49-F238E27FC236}">
                <a16:creationId xmlns:a16="http://schemas.microsoft.com/office/drawing/2014/main" id="{D629EC2B-1361-F445-82BA-6CC9F0F56B37}"/>
              </a:ext>
            </a:extLst>
          </p:cNvPr>
          <p:cNvSpPr/>
          <p:nvPr/>
        </p:nvSpPr>
        <p:spPr>
          <a:xfrm>
            <a:off x="10509521" y="3732891"/>
            <a:ext cx="393539" cy="394083"/>
          </a:xfrm>
          <a:prstGeom prst="can">
            <a:avLst/>
          </a:prstGeom>
          <a:solidFill>
            <a:srgbClr val="E88B1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F320C8-7C65-CCF8-6225-9535B8C863DD}"/>
              </a:ext>
            </a:extLst>
          </p:cNvPr>
          <p:cNvSpPr txBox="1"/>
          <p:nvPr/>
        </p:nvSpPr>
        <p:spPr>
          <a:xfrm>
            <a:off x="1822871" y="1549119"/>
            <a:ext cx="2763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EC5637"/>
                </a:solidFill>
              </a:rPr>
              <a:t>on your computer</a:t>
            </a:r>
          </a:p>
        </p:txBody>
      </p:sp>
    </p:spTree>
    <p:extLst>
      <p:ext uri="{BB962C8B-B14F-4D97-AF65-F5344CB8AC3E}">
        <p14:creationId xmlns:p14="http://schemas.microsoft.com/office/powerpoint/2010/main" val="194142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6E45-A36A-FB4A-DC44-B679085C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42" y="266324"/>
            <a:ext cx="7871848" cy="1325563"/>
          </a:xfrm>
        </p:spPr>
        <p:txBody>
          <a:bodyPr/>
          <a:lstStyle/>
          <a:p>
            <a:r>
              <a:rPr lang="en-US" dirty="0"/>
              <a:t>Local version control flow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4042A1-81C8-12EF-2732-9449E67797E1}"/>
              </a:ext>
            </a:extLst>
          </p:cNvPr>
          <p:cNvSpPr/>
          <p:nvPr/>
        </p:nvSpPr>
        <p:spPr>
          <a:xfrm>
            <a:off x="6851251" y="1484812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Track</a:t>
            </a:r>
            <a:r>
              <a:rPr lang="en-US" dirty="0"/>
              <a:t> the file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4A6D1A-8F24-09BC-FB7F-A2280E8ADC89}"/>
              </a:ext>
            </a:extLst>
          </p:cNvPr>
          <p:cNvSpPr/>
          <p:nvPr/>
        </p:nvSpPr>
        <p:spPr>
          <a:xfrm>
            <a:off x="9018838" y="2644479"/>
            <a:ext cx="2603714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FFC000"/>
                </a:solidFill>
              </a:rPr>
              <a:t>file status </a:t>
            </a:r>
            <a:r>
              <a:rPr lang="en-US" dirty="0">
                <a:solidFill>
                  <a:srgbClr val="FFC000"/>
                </a:solidFill>
              </a:rPr>
              <a:t>= modified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9FF217-E53A-3CBD-E663-0CBCED3DFB84}"/>
              </a:ext>
            </a:extLst>
          </p:cNvPr>
          <p:cNvSpPr/>
          <p:nvPr/>
        </p:nvSpPr>
        <p:spPr>
          <a:xfrm>
            <a:off x="6855606" y="2441831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the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955BFD-5C1A-73CF-432C-917B232335D5}"/>
              </a:ext>
            </a:extLst>
          </p:cNvPr>
          <p:cNvSpPr/>
          <p:nvPr/>
        </p:nvSpPr>
        <p:spPr>
          <a:xfrm>
            <a:off x="6855606" y="3883940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Stage</a:t>
            </a:r>
            <a:r>
              <a:rPr lang="en-US" dirty="0"/>
              <a:t> the file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F54F53-C22A-7924-7AE7-C22F45DAF140}"/>
              </a:ext>
            </a:extLst>
          </p:cNvPr>
          <p:cNvSpPr/>
          <p:nvPr/>
        </p:nvSpPr>
        <p:spPr>
          <a:xfrm>
            <a:off x="6849075" y="4840959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Commit</a:t>
            </a:r>
            <a:r>
              <a:rPr lang="en-US" dirty="0"/>
              <a:t> the file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F67FBB-390E-18F7-BF9F-4881EAAA4CBD}"/>
              </a:ext>
            </a:extLst>
          </p:cNvPr>
          <p:cNvSpPr/>
          <p:nvPr/>
        </p:nvSpPr>
        <p:spPr>
          <a:xfrm>
            <a:off x="9018838" y="5143176"/>
            <a:ext cx="2603714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FFC000"/>
                </a:solidFill>
              </a:rPr>
              <a:t>file status </a:t>
            </a:r>
            <a:r>
              <a:rPr lang="en-US" dirty="0">
                <a:solidFill>
                  <a:srgbClr val="FFC000"/>
                </a:solidFill>
              </a:rPr>
              <a:t>= unmodified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CE8515-D449-24A4-D582-50FC8ADC2EAE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7874139" y="2089246"/>
            <a:ext cx="4355" cy="352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BA1A3C-6E51-8CD0-DB1A-324BBA93BBE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878494" y="3046265"/>
            <a:ext cx="0" cy="83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936320-2C81-AE0D-82CF-4AFF7835F250}"/>
              </a:ext>
            </a:extLst>
          </p:cNvPr>
          <p:cNvCxnSpPr/>
          <p:nvPr/>
        </p:nvCxnSpPr>
        <p:spPr>
          <a:xfrm>
            <a:off x="7867608" y="4488374"/>
            <a:ext cx="4355" cy="352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E8E7428-2E19-7020-CE3C-4F7DEADC51F2}"/>
              </a:ext>
            </a:extLst>
          </p:cNvPr>
          <p:cNvCxnSpPr>
            <a:stCxn id="8" idx="2"/>
            <a:endCxn id="6" idx="1"/>
          </p:cNvCxnSpPr>
          <p:nvPr/>
        </p:nvCxnSpPr>
        <p:spPr>
          <a:xfrm rot="5400000" flipH="1">
            <a:off x="6013112" y="3586543"/>
            <a:ext cx="2701345" cy="1016357"/>
          </a:xfrm>
          <a:prstGeom prst="bentConnector4">
            <a:avLst>
              <a:gd name="adj1" fmla="val -8462"/>
              <a:gd name="adj2" fmla="val 144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45854F-3496-B8F7-9D01-27BAC9291B56}"/>
              </a:ext>
            </a:extLst>
          </p:cNvPr>
          <p:cNvSpPr txBox="1"/>
          <p:nvPr/>
        </p:nvSpPr>
        <p:spPr>
          <a:xfrm>
            <a:off x="625499" y="2246926"/>
            <a:ext cx="4710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Tracked files &amp; folders and commits are stored in the local .git repository</a:t>
            </a:r>
          </a:p>
        </p:txBody>
      </p:sp>
    </p:spTree>
    <p:extLst>
      <p:ext uri="{BB962C8B-B14F-4D97-AF65-F5344CB8AC3E}">
        <p14:creationId xmlns:p14="http://schemas.microsoft.com/office/powerpoint/2010/main" val="59926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3EEBA-8F9B-E6BC-F245-DEDEAE17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F157-8FB4-FD77-29AD-2F255E7E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39" y="367978"/>
            <a:ext cx="10515600" cy="1325563"/>
          </a:xfrm>
        </p:spPr>
        <p:txBody>
          <a:bodyPr/>
          <a:lstStyle/>
          <a:p>
            <a:r>
              <a:rPr lang="en-US" dirty="0"/>
              <a:t>Main branch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0B24EC1-87FE-3C0D-A4AE-90B783ACA991}"/>
              </a:ext>
            </a:extLst>
          </p:cNvPr>
          <p:cNvSpPr/>
          <p:nvPr/>
        </p:nvSpPr>
        <p:spPr>
          <a:xfrm>
            <a:off x="1417122" y="2755075"/>
            <a:ext cx="9357756" cy="8787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A27CF-C0CF-CB27-B625-5129EA67626F}"/>
              </a:ext>
            </a:extLst>
          </p:cNvPr>
          <p:cNvSpPr txBox="1"/>
          <p:nvPr/>
        </p:nvSpPr>
        <p:spPr>
          <a:xfrm>
            <a:off x="1417122" y="2925184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AE9301-E7E4-D609-D1A8-C82EA12429BA}"/>
              </a:ext>
            </a:extLst>
          </p:cNvPr>
          <p:cNvGrpSpPr/>
          <p:nvPr/>
        </p:nvGrpSpPr>
        <p:grpSpPr>
          <a:xfrm>
            <a:off x="2185878" y="2405070"/>
            <a:ext cx="900888" cy="1228780"/>
            <a:chOff x="2185878" y="1538171"/>
            <a:chExt cx="900888" cy="122878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F68532-4A44-208A-A410-BBF75F7A2FCB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140428-26FA-E199-02B0-66D283D101F0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003C46-BA8E-2D20-48F4-944DC3874AA5}"/>
              </a:ext>
            </a:extLst>
          </p:cNvPr>
          <p:cNvGrpSpPr/>
          <p:nvPr/>
        </p:nvGrpSpPr>
        <p:grpSpPr>
          <a:xfrm>
            <a:off x="4434444" y="2412521"/>
            <a:ext cx="900888" cy="1228780"/>
            <a:chOff x="2185878" y="1538171"/>
            <a:chExt cx="900888" cy="12287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63ECE3-67BA-D373-F5E2-CFC5C298E880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4BE8DD-8646-7112-412D-74BAE4D38550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0BA70A-AB7A-360C-C7B4-92CEB127F83C}"/>
              </a:ext>
            </a:extLst>
          </p:cNvPr>
          <p:cNvGrpSpPr/>
          <p:nvPr/>
        </p:nvGrpSpPr>
        <p:grpSpPr>
          <a:xfrm>
            <a:off x="4905651" y="2160012"/>
            <a:ext cx="900888" cy="1481289"/>
            <a:chOff x="2185878" y="1538171"/>
            <a:chExt cx="900888" cy="148128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590D64D-D7CE-C1B0-81EF-C76888C56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5559" y="1888176"/>
              <a:ext cx="20763" cy="1131284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A38EB8-0458-2F51-770B-BD449427B1A2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CA0767-2465-58A9-6E7D-A5B42A9B400F}"/>
              </a:ext>
            </a:extLst>
          </p:cNvPr>
          <p:cNvGrpSpPr/>
          <p:nvPr/>
        </p:nvGrpSpPr>
        <p:grpSpPr>
          <a:xfrm>
            <a:off x="5581317" y="2412521"/>
            <a:ext cx="900888" cy="1228780"/>
            <a:chOff x="2185878" y="1538171"/>
            <a:chExt cx="900888" cy="122878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3D8D7DA-2B35-0EB0-274C-E583759B1FC3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60B133-F522-6CB9-B38C-ACD5BF02F440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B281CA-ED3E-F37C-B1A2-64C826935CA0}"/>
              </a:ext>
            </a:extLst>
          </p:cNvPr>
          <p:cNvGrpSpPr/>
          <p:nvPr/>
        </p:nvGrpSpPr>
        <p:grpSpPr>
          <a:xfrm>
            <a:off x="6728190" y="2412521"/>
            <a:ext cx="900888" cy="1228780"/>
            <a:chOff x="2185878" y="1538171"/>
            <a:chExt cx="900888" cy="122878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53A481-C899-060D-7763-BC8FB01FB25B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CAF19F-3CDA-1547-7788-64C615795C22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C3E840-BF72-3111-BBAE-7DD23D6826FC}"/>
              </a:ext>
            </a:extLst>
          </p:cNvPr>
          <p:cNvGrpSpPr/>
          <p:nvPr/>
        </p:nvGrpSpPr>
        <p:grpSpPr>
          <a:xfrm>
            <a:off x="8775950" y="2405070"/>
            <a:ext cx="900888" cy="1228780"/>
            <a:chOff x="2185878" y="1538171"/>
            <a:chExt cx="900888" cy="12287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77BEC6-EB16-7C77-66F8-910A8E2F0D0A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D858518-C821-3A1B-6F80-6DA0BD6F1242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9401D2C-5713-326A-C6CB-89452F4100DA}"/>
              </a:ext>
            </a:extLst>
          </p:cNvPr>
          <p:cNvGrpSpPr/>
          <p:nvPr/>
        </p:nvGrpSpPr>
        <p:grpSpPr>
          <a:xfrm>
            <a:off x="1109986" y="4051933"/>
            <a:ext cx="10560488" cy="381207"/>
            <a:chOff x="1109986" y="4051933"/>
            <a:chExt cx="10560488" cy="381207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5D3A45A-C99B-E893-FAB2-348C05354307}"/>
                </a:ext>
              </a:extLst>
            </p:cNvPr>
            <p:cNvCxnSpPr/>
            <p:nvPr/>
          </p:nvCxnSpPr>
          <p:spPr>
            <a:xfrm>
              <a:off x="1417121" y="4433140"/>
              <a:ext cx="10253353" cy="0"/>
            </a:xfrm>
            <a:prstGeom prst="straightConnector1">
              <a:avLst/>
            </a:prstGeom>
            <a:ln w="57150"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5E3E3C-0A9B-3524-04B1-D6CC84C456A7}"/>
                </a:ext>
              </a:extLst>
            </p:cNvPr>
            <p:cNvSpPr txBox="1"/>
            <p:nvPr/>
          </p:nvSpPr>
          <p:spPr>
            <a:xfrm>
              <a:off x="1109986" y="4051933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070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8333fig0105-tn.png">
            <a:extLst>
              <a:ext uri="{FF2B5EF4-FFF2-40B4-BE49-F238E27FC236}">
                <a16:creationId xmlns:a16="http://schemas.microsoft.com/office/drawing/2014/main" id="{CD16B5AF-73C6-7059-650A-4DA5F6293A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8370" y="354330"/>
            <a:ext cx="7760970" cy="344587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30">
            <a:extLst>
              <a:ext uri="{FF2B5EF4-FFF2-40B4-BE49-F238E27FC236}">
                <a16:creationId xmlns:a16="http://schemas.microsoft.com/office/drawing/2014/main" id="{E187AA86-489B-187E-A626-BD116D32FF99}"/>
              </a:ext>
            </a:extLst>
          </p:cNvPr>
          <p:cNvSpPr/>
          <p:nvPr/>
        </p:nvSpPr>
        <p:spPr>
          <a:xfrm>
            <a:off x="1944547" y="4348373"/>
            <a:ext cx="8060092" cy="1066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4290" tIns="34290" rIns="34290" bIns="34290" anchor="ctr">
            <a:spAutoFit/>
          </a:bodyPr>
          <a:lstStyle/>
          <a:p>
            <a:pPr lvl="0">
              <a:defRPr sz="1800"/>
            </a:pPr>
            <a:r>
              <a:rPr sz="2160" dirty="0"/>
              <a:t>Get stores a </a:t>
            </a:r>
            <a:r>
              <a:rPr sz="2160" b="1" dirty="0"/>
              <a:t>snapshot</a:t>
            </a:r>
            <a:r>
              <a:rPr sz="2160" dirty="0"/>
              <a:t> of all your </a:t>
            </a:r>
            <a:r>
              <a:rPr lang="en-US" sz="2160" b="1" dirty="0"/>
              <a:t>modified</a:t>
            </a:r>
            <a:r>
              <a:rPr lang="en-US" sz="2160" dirty="0"/>
              <a:t> </a:t>
            </a:r>
            <a:r>
              <a:rPr sz="2160" dirty="0"/>
              <a:t>files with each commit.</a:t>
            </a:r>
          </a:p>
          <a:p>
            <a:pPr lvl="0">
              <a:defRPr sz="1800"/>
            </a:pPr>
            <a:endParaRPr sz="2160" dirty="0"/>
          </a:p>
          <a:p>
            <a:pPr lvl="0">
              <a:defRPr sz="1800"/>
            </a:pPr>
            <a:r>
              <a:rPr sz="2160" dirty="0"/>
              <a:t>If the file hasn’t changed, it stores a </a:t>
            </a:r>
            <a:r>
              <a:rPr sz="2160" b="1" dirty="0"/>
              <a:t>link</a:t>
            </a:r>
            <a:r>
              <a:rPr sz="2160" dirty="0"/>
              <a:t> to the latest version of the file.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54A970-0081-B56B-4627-9A6B3B3F99EF}"/>
              </a:ext>
            </a:extLst>
          </p:cNvPr>
          <p:cNvSpPr/>
          <p:nvPr/>
        </p:nvSpPr>
        <p:spPr bwMode="auto">
          <a:xfrm>
            <a:off x="2198370" y="753533"/>
            <a:ext cx="1354667" cy="728134"/>
          </a:xfrm>
          <a:prstGeom prst="roundRect">
            <a:avLst/>
          </a:prstGeom>
          <a:solidFill>
            <a:srgbClr val="E88B1F"/>
          </a:solidFill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Commit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248805-C1F8-AD13-188B-B900302BE020}"/>
              </a:ext>
            </a:extLst>
          </p:cNvPr>
          <p:cNvSpPr/>
          <p:nvPr/>
        </p:nvSpPr>
        <p:spPr bwMode="auto">
          <a:xfrm>
            <a:off x="3831700" y="753533"/>
            <a:ext cx="1354667" cy="728134"/>
          </a:xfrm>
          <a:prstGeom prst="roundRect">
            <a:avLst/>
          </a:prstGeom>
          <a:solidFill>
            <a:srgbClr val="E88B1F"/>
          </a:solidFill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Commit 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25E16D-463B-292A-AC71-15230F704CD2}"/>
              </a:ext>
            </a:extLst>
          </p:cNvPr>
          <p:cNvSpPr/>
          <p:nvPr/>
        </p:nvSpPr>
        <p:spPr bwMode="auto">
          <a:xfrm>
            <a:off x="5401521" y="753533"/>
            <a:ext cx="1354667" cy="728134"/>
          </a:xfrm>
          <a:prstGeom prst="roundRect">
            <a:avLst/>
          </a:prstGeom>
          <a:solidFill>
            <a:srgbClr val="E88B1F"/>
          </a:solidFill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Commit 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B0F834-D746-A397-5AF9-AE4C0F16E984}"/>
              </a:ext>
            </a:extLst>
          </p:cNvPr>
          <p:cNvSpPr/>
          <p:nvPr/>
        </p:nvSpPr>
        <p:spPr bwMode="auto">
          <a:xfrm>
            <a:off x="6971342" y="753533"/>
            <a:ext cx="1354667" cy="728134"/>
          </a:xfrm>
          <a:prstGeom prst="roundRect">
            <a:avLst/>
          </a:prstGeom>
          <a:solidFill>
            <a:srgbClr val="E88B1F"/>
          </a:solidFill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Commit 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14A9F0D-4153-F497-105E-6CFCA9F27E48}"/>
              </a:ext>
            </a:extLst>
          </p:cNvPr>
          <p:cNvSpPr/>
          <p:nvPr/>
        </p:nvSpPr>
        <p:spPr bwMode="auto">
          <a:xfrm>
            <a:off x="8604673" y="753533"/>
            <a:ext cx="1354667" cy="728134"/>
          </a:xfrm>
          <a:prstGeom prst="roundRect">
            <a:avLst/>
          </a:prstGeom>
          <a:solidFill>
            <a:srgbClr val="E88B1F"/>
          </a:solidFill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Arial" charset="0"/>
              </a:rPr>
              <a:t>Commit 5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000B2B7D-CFC7-6E35-AD8E-DA55C842CBAD}"/>
              </a:ext>
            </a:extLst>
          </p:cNvPr>
          <p:cNvSpPr/>
          <p:nvPr/>
        </p:nvSpPr>
        <p:spPr>
          <a:xfrm>
            <a:off x="1608881" y="671333"/>
            <a:ext cx="335666" cy="86820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EC30FB01-FF92-A117-7457-256E81A8CAAB}"/>
              </a:ext>
            </a:extLst>
          </p:cNvPr>
          <p:cNvSpPr/>
          <p:nvPr/>
        </p:nvSpPr>
        <p:spPr>
          <a:xfrm>
            <a:off x="1608881" y="1643160"/>
            <a:ext cx="335666" cy="215704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3529-F044-9441-8743-64227E1E2C16}"/>
              </a:ext>
            </a:extLst>
          </p:cNvPr>
          <p:cNvSpPr txBox="1"/>
          <p:nvPr/>
        </p:nvSpPr>
        <p:spPr>
          <a:xfrm>
            <a:off x="162698" y="920771"/>
            <a:ext cx="131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commits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AFF9E-7353-75BA-6C99-D9219B0157B0}"/>
              </a:ext>
            </a:extLst>
          </p:cNvPr>
          <p:cNvSpPr txBox="1"/>
          <p:nvPr/>
        </p:nvSpPr>
        <p:spPr>
          <a:xfrm>
            <a:off x="201363" y="2537014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 files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7FE78CB-985E-47F9-DD8A-663A6F3CC510}"/>
              </a:ext>
            </a:extLst>
          </p:cNvPr>
          <p:cNvSpPr/>
          <p:nvPr/>
        </p:nvSpPr>
        <p:spPr>
          <a:xfrm>
            <a:off x="3102015" y="2453336"/>
            <a:ext cx="1203767" cy="313013"/>
          </a:xfrm>
          <a:custGeom>
            <a:avLst/>
            <a:gdLst>
              <a:gd name="connsiteX0" fmla="*/ 1203767 w 1203767"/>
              <a:gd name="connsiteY0" fmla="*/ 313013 h 313013"/>
              <a:gd name="connsiteX1" fmla="*/ 636608 w 1203767"/>
              <a:gd name="connsiteY1" fmla="*/ 497 h 313013"/>
              <a:gd name="connsiteX2" fmla="*/ 0 w 1203767"/>
              <a:gd name="connsiteY2" fmla="*/ 255140 h 31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3767" h="313013">
                <a:moveTo>
                  <a:pt x="1203767" y="313013"/>
                </a:moveTo>
                <a:cubicBezTo>
                  <a:pt x="1020501" y="161577"/>
                  <a:pt x="837236" y="10142"/>
                  <a:pt x="636608" y="497"/>
                </a:cubicBezTo>
                <a:cubicBezTo>
                  <a:pt x="435980" y="-9148"/>
                  <a:pt x="217990" y="122996"/>
                  <a:pt x="0" y="25514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03767 w 1203767"/>
                      <a:gd name="connsiteY0" fmla="*/ 313013 h 313013"/>
                      <a:gd name="connsiteX1" fmla="*/ 636608 w 1203767"/>
                      <a:gd name="connsiteY1" fmla="*/ 497 h 313013"/>
                      <a:gd name="connsiteX2" fmla="*/ 0 w 1203767"/>
                      <a:gd name="connsiteY2" fmla="*/ 255140 h 3130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03767" h="313013" extrusionOk="0">
                        <a:moveTo>
                          <a:pt x="1203767" y="313013"/>
                        </a:moveTo>
                        <a:cubicBezTo>
                          <a:pt x="1004116" y="151470"/>
                          <a:pt x="824998" y="14735"/>
                          <a:pt x="636608" y="497"/>
                        </a:cubicBezTo>
                        <a:cubicBezTo>
                          <a:pt x="444554" y="-7343"/>
                          <a:pt x="204869" y="123413"/>
                          <a:pt x="0" y="25514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B6CEA16-B37E-99A4-BD94-C122606AAB4A}"/>
              </a:ext>
            </a:extLst>
          </p:cNvPr>
          <p:cNvSpPr/>
          <p:nvPr/>
        </p:nvSpPr>
        <p:spPr>
          <a:xfrm>
            <a:off x="2928395" y="2187565"/>
            <a:ext cx="2997843" cy="451463"/>
          </a:xfrm>
          <a:custGeom>
            <a:avLst/>
            <a:gdLst>
              <a:gd name="connsiteX0" fmla="*/ 2997843 w 2997843"/>
              <a:gd name="connsiteY0" fmla="*/ 451463 h 451463"/>
              <a:gd name="connsiteX1" fmla="*/ 1064871 w 2997843"/>
              <a:gd name="connsiteY1" fmla="*/ 50 h 451463"/>
              <a:gd name="connsiteX2" fmla="*/ 0 w 2997843"/>
              <a:gd name="connsiteY2" fmla="*/ 428313 h 451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97843" h="451463">
                <a:moveTo>
                  <a:pt x="2997843" y="451463"/>
                </a:moveTo>
                <a:cubicBezTo>
                  <a:pt x="2281177" y="227685"/>
                  <a:pt x="1564511" y="3908"/>
                  <a:pt x="1064871" y="50"/>
                </a:cubicBezTo>
                <a:cubicBezTo>
                  <a:pt x="565231" y="-3808"/>
                  <a:pt x="282615" y="212252"/>
                  <a:pt x="0" y="428313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1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54967B-2880-1B5A-6A63-7C278FF7B436}"/>
              </a:ext>
            </a:extLst>
          </p:cNvPr>
          <p:cNvSpPr/>
          <p:nvPr/>
        </p:nvSpPr>
        <p:spPr>
          <a:xfrm>
            <a:off x="8507392" y="938251"/>
            <a:ext cx="2303362" cy="5531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66BD3-EABC-C0BE-BB97-4FBDC190BBAF}"/>
              </a:ext>
            </a:extLst>
          </p:cNvPr>
          <p:cNvSpPr/>
          <p:nvPr/>
        </p:nvSpPr>
        <p:spPr>
          <a:xfrm>
            <a:off x="150472" y="938251"/>
            <a:ext cx="5278056" cy="5531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86E45-A36A-FB4A-DC44-B679085C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89" y="145176"/>
            <a:ext cx="5475496" cy="740673"/>
          </a:xfrm>
        </p:spPr>
        <p:txBody>
          <a:bodyPr/>
          <a:lstStyle/>
          <a:p>
            <a:r>
              <a:rPr lang="en-US" dirty="0"/>
              <a:t>Remote repository flow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4042A1-81C8-12EF-2732-9449E67797E1}"/>
              </a:ext>
            </a:extLst>
          </p:cNvPr>
          <p:cNvSpPr/>
          <p:nvPr/>
        </p:nvSpPr>
        <p:spPr>
          <a:xfrm>
            <a:off x="1154937" y="1785759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Track</a:t>
            </a:r>
            <a:r>
              <a:rPr lang="en-US" dirty="0"/>
              <a:t> the file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4A6D1A-8F24-09BC-FB7F-A2280E8ADC89}"/>
              </a:ext>
            </a:extLst>
          </p:cNvPr>
          <p:cNvSpPr/>
          <p:nvPr/>
        </p:nvSpPr>
        <p:spPr>
          <a:xfrm>
            <a:off x="2476649" y="3159261"/>
            <a:ext cx="2603714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FFC000"/>
                </a:solidFill>
              </a:rPr>
              <a:t>file status </a:t>
            </a:r>
            <a:r>
              <a:rPr lang="en-US" dirty="0">
                <a:solidFill>
                  <a:srgbClr val="FFC000"/>
                </a:solidFill>
              </a:rPr>
              <a:t>= modified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9FF217-E53A-3CBD-E663-0CBCED3DFB84}"/>
              </a:ext>
            </a:extLst>
          </p:cNvPr>
          <p:cNvSpPr/>
          <p:nvPr/>
        </p:nvSpPr>
        <p:spPr>
          <a:xfrm>
            <a:off x="1159292" y="2742778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 the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955BFD-5C1A-73CF-432C-917B232335D5}"/>
              </a:ext>
            </a:extLst>
          </p:cNvPr>
          <p:cNvSpPr/>
          <p:nvPr/>
        </p:nvSpPr>
        <p:spPr>
          <a:xfrm>
            <a:off x="1159292" y="4184887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Stage</a:t>
            </a:r>
            <a:r>
              <a:rPr lang="en-US" dirty="0"/>
              <a:t> the file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F67FBB-390E-18F7-BF9F-4881EAAA4CBD}"/>
              </a:ext>
            </a:extLst>
          </p:cNvPr>
          <p:cNvSpPr/>
          <p:nvPr/>
        </p:nvSpPr>
        <p:spPr>
          <a:xfrm>
            <a:off x="2476649" y="5558389"/>
            <a:ext cx="2603714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FFC000"/>
                </a:solidFill>
              </a:rPr>
              <a:t>file status </a:t>
            </a:r>
            <a:r>
              <a:rPr lang="en-US" dirty="0">
                <a:solidFill>
                  <a:srgbClr val="FFC000"/>
                </a:solidFill>
              </a:rPr>
              <a:t>= unmodified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F54F53-C22A-7924-7AE7-C22F45DAF140}"/>
              </a:ext>
            </a:extLst>
          </p:cNvPr>
          <p:cNvSpPr/>
          <p:nvPr/>
        </p:nvSpPr>
        <p:spPr>
          <a:xfrm>
            <a:off x="1152761" y="5141906"/>
            <a:ext cx="2045776" cy="604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Commit</a:t>
            </a:r>
            <a:r>
              <a:rPr lang="en-US" dirty="0"/>
              <a:t> the file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CE8515-D449-24A4-D582-50FC8ADC2EAE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177825" y="2390193"/>
            <a:ext cx="4355" cy="352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BA1A3C-6E51-8CD0-DB1A-324BBA93BBE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182180" y="3347212"/>
            <a:ext cx="0" cy="83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936320-2C81-AE0D-82CF-4AFF7835F250}"/>
              </a:ext>
            </a:extLst>
          </p:cNvPr>
          <p:cNvCxnSpPr/>
          <p:nvPr/>
        </p:nvCxnSpPr>
        <p:spPr>
          <a:xfrm>
            <a:off x="2171294" y="4789321"/>
            <a:ext cx="4355" cy="352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E8E7428-2E19-7020-CE3C-4F7DEADC51F2}"/>
              </a:ext>
            </a:extLst>
          </p:cNvPr>
          <p:cNvCxnSpPr>
            <a:stCxn id="8" idx="2"/>
            <a:endCxn id="6" idx="1"/>
          </p:cNvCxnSpPr>
          <p:nvPr/>
        </p:nvCxnSpPr>
        <p:spPr>
          <a:xfrm rot="5400000" flipH="1">
            <a:off x="316798" y="3887490"/>
            <a:ext cx="2701345" cy="1016357"/>
          </a:xfrm>
          <a:prstGeom prst="bentConnector4">
            <a:avLst>
              <a:gd name="adj1" fmla="val -8462"/>
              <a:gd name="adj2" fmla="val 144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n 2">
            <a:extLst>
              <a:ext uri="{FF2B5EF4-FFF2-40B4-BE49-F238E27FC236}">
                <a16:creationId xmlns:a16="http://schemas.microsoft.com/office/drawing/2014/main" id="{EEFE4637-0FE9-4DA0-083D-F1A12ECD8E93}"/>
              </a:ext>
            </a:extLst>
          </p:cNvPr>
          <p:cNvSpPr/>
          <p:nvPr/>
        </p:nvSpPr>
        <p:spPr>
          <a:xfrm>
            <a:off x="8924082" y="1542685"/>
            <a:ext cx="1412111" cy="1042569"/>
          </a:xfrm>
          <a:prstGeom prst="can">
            <a:avLst/>
          </a:prstGeom>
          <a:solidFill>
            <a:srgbClr val="6ABD4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1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39846B37-863C-4DE5-5DC0-C473011D09B5}"/>
              </a:ext>
            </a:extLst>
          </p:cNvPr>
          <p:cNvSpPr/>
          <p:nvPr/>
        </p:nvSpPr>
        <p:spPr>
          <a:xfrm>
            <a:off x="8986934" y="3218404"/>
            <a:ext cx="1412111" cy="1042569"/>
          </a:xfrm>
          <a:prstGeom prst="can">
            <a:avLst/>
          </a:prstGeom>
          <a:solidFill>
            <a:srgbClr val="6ABD4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2</a:t>
            </a: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118FF6A8-B1AE-4941-BB71-5779F1840C6C}"/>
              </a:ext>
            </a:extLst>
          </p:cNvPr>
          <p:cNvSpPr/>
          <p:nvPr/>
        </p:nvSpPr>
        <p:spPr>
          <a:xfrm>
            <a:off x="9009295" y="4898832"/>
            <a:ext cx="1412111" cy="1042569"/>
          </a:xfrm>
          <a:prstGeom prst="can">
            <a:avLst/>
          </a:prstGeom>
          <a:solidFill>
            <a:srgbClr val="EC563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E90DF-5BC2-55CB-464C-5B6A55B8E6B0}"/>
              </a:ext>
            </a:extLst>
          </p:cNvPr>
          <p:cNvSpPr txBox="1"/>
          <p:nvPr/>
        </p:nvSpPr>
        <p:spPr>
          <a:xfrm>
            <a:off x="9024561" y="916599"/>
            <a:ext cx="1269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GitHub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B4547-6229-69AD-3137-579E024FE180}"/>
              </a:ext>
            </a:extLst>
          </p:cNvPr>
          <p:cNvSpPr txBox="1"/>
          <p:nvPr/>
        </p:nvSpPr>
        <p:spPr>
          <a:xfrm>
            <a:off x="1766612" y="885849"/>
            <a:ext cx="204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computer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025B484-70A6-14D5-3288-04ABC008760E}"/>
              </a:ext>
            </a:extLst>
          </p:cNvPr>
          <p:cNvSpPr/>
          <p:nvPr/>
        </p:nvSpPr>
        <p:spPr>
          <a:xfrm>
            <a:off x="5596360" y="1542685"/>
            <a:ext cx="2743200" cy="740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Push</a:t>
            </a:r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6253A88F-0438-5E63-05ED-D62D65F7148E}"/>
              </a:ext>
            </a:extLst>
          </p:cNvPr>
          <p:cNvSpPr/>
          <p:nvPr/>
        </p:nvSpPr>
        <p:spPr>
          <a:xfrm>
            <a:off x="5596360" y="2283358"/>
            <a:ext cx="2743200" cy="76906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23004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4ED6B2-258A-07CB-164B-61505787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create a repository?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FD3EC-2997-ECD9-328B-73BDD8F60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90078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3C33F-7368-787D-1859-7E30EAB1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03" y="885849"/>
            <a:ext cx="4942105" cy="57657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354967B-2880-1B5A-6A63-7C278FF7B436}"/>
              </a:ext>
            </a:extLst>
          </p:cNvPr>
          <p:cNvSpPr/>
          <p:nvPr/>
        </p:nvSpPr>
        <p:spPr>
          <a:xfrm>
            <a:off x="8507392" y="938251"/>
            <a:ext cx="2303362" cy="5531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Creates the repository with two files:</a:t>
            </a:r>
          </a:p>
          <a:p>
            <a:pPr algn="ctr"/>
            <a:r>
              <a:rPr lang="en-US" i="1" dirty="0" err="1">
                <a:solidFill>
                  <a:schemeClr val="tx1"/>
                </a:solidFill>
              </a:rPr>
              <a:t>README.md</a:t>
            </a:r>
            <a:endParaRPr lang="en-US" i="1" dirty="0">
              <a:solidFill>
                <a:schemeClr val="tx1"/>
              </a:solidFill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.</a:t>
            </a:r>
            <a:r>
              <a:rPr lang="en-US" i="1" dirty="0" err="1">
                <a:solidFill>
                  <a:schemeClr val="tx1"/>
                </a:solidFill>
              </a:rPr>
              <a:t>gitignore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86E45-A36A-FB4A-DC44-B679085C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88" y="145176"/>
            <a:ext cx="8879981" cy="740673"/>
          </a:xfrm>
        </p:spPr>
        <p:txBody>
          <a:bodyPr>
            <a:normAutofit fontScale="90000"/>
          </a:bodyPr>
          <a:lstStyle/>
          <a:p>
            <a:r>
              <a:rPr lang="en-US" dirty="0"/>
              <a:t>Step 1: Create the repository on GitHub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EEFE4637-0FE9-4DA0-083D-F1A12ECD8E93}"/>
              </a:ext>
            </a:extLst>
          </p:cNvPr>
          <p:cNvSpPr/>
          <p:nvPr/>
        </p:nvSpPr>
        <p:spPr>
          <a:xfrm>
            <a:off x="8715736" y="1723780"/>
            <a:ext cx="1886672" cy="1135167"/>
          </a:xfrm>
          <a:prstGeom prst="can">
            <a:avLst/>
          </a:prstGeom>
          <a:solidFill>
            <a:srgbClr val="6ABD4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3250-final-project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E90DF-5BC2-55CB-464C-5B6A55B8E6B0}"/>
              </a:ext>
            </a:extLst>
          </p:cNvPr>
          <p:cNvSpPr txBox="1"/>
          <p:nvPr/>
        </p:nvSpPr>
        <p:spPr>
          <a:xfrm>
            <a:off x="8870148" y="965771"/>
            <a:ext cx="1577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GitHub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BDE5E-C6EB-1920-1E6A-3C53D705F329}"/>
              </a:ext>
            </a:extLst>
          </p:cNvPr>
          <p:cNvSpPr/>
          <p:nvPr/>
        </p:nvSpPr>
        <p:spPr>
          <a:xfrm>
            <a:off x="651178" y="789787"/>
            <a:ext cx="2141316" cy="702380"/>
          </a:xfrm>
          <a:prstGeom prst="roundRect">
            <a:avLst/>
          </a:prstGeom>
          <a:noFill/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1B62A7C-0209-987D-4E2F-23683B8B3670}"/>
              </a:ext>
            </a:extLst>
          </p:cNvPr>
          <p:cNvSpPr/>
          <p:nvPr/>
        </p:nvSpPr>
        <p:spPr>
          <a:xfrm>
            <a:off x="1637206" y="1637467"/>
            <a:ext cx="2141316" cy="602939"/>
          </a:xfrm>
          <a:prstGeom prst="roundRect">
            <a:avLst/>
          </a:prstGeom>
          <a:noFill/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FE2AFAE-4A7F-0ADB-AE10-006C86AB96C6}"/>
              </a:ext>
            </a:extLst>
          </p:cNvPr>
          <p:cNvSpPr/>
          <p:nvPr/>
        </p:nvSpPr>
        <p:spPr>
          <a:xfrm>
            <a:off x="644950" y="2761422"/>
            <a:ext cx="1282724" cy="828286"/>
          </a:xfrm>
          <a:prstGeom prst="roundRect">
            <a:avLst/>
          </a:prstGeom>
          <a:noFill/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EB69D62-638E-2803-45CF-8D550A2AAE0A}"/>
              </a:ext>
            </a:extLst>
          </p:cNvPr>
          <p:cNvSpPr/>
          <p:nvPr/>
        </p:nvSpPr>
        <p:spPr>
          <a:xfrm>
            <a:off x="460788" y="3657354"/>
            <a:ext cx="2141316" cy="592112"/>
          </a:xfrm>
          <a:prstGeom prst="roundRect">
            <a:avLst/>
          </a:prstGeom>
          <a:noFill/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F3ADCD4-92F5-CCAB-D43C-1BC3D8CEB8CD}"/>
              </a:ext>
            </a:extLst>
          </p:cNvPr>
          <p:cNvSpPr/>
          <p:nvPr/>
        </p:nvSpPr>
        <p:spPr>
          <a:xfrm>
            <a:off x="566548" y="4379286"/>
            <a:ext cx="2141316" cy="387237"/>
          </a:xfrm>
          <a:prstGeom prst="roundRect">
            <a:avLst/>
          </a:prstGeom>
          <a:noFill/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055A28-25F2-D221-808B-872223D5B4EA}"/>
              </a:ext>
            </a:extLst>
          </p:cNvPr>
          <p:cNvSpPr txBox="1"/>
          <p:nvPr/>
        </p:nvSpPr>
        <p:spPr>
          <a:xfrm>
            <a:off x="2970428" y="4510410"/>
            <a:ext cx="263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Choose python language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130438-973B-50CA-2970-16CD8C84C642}"/>
              </a:ext>
            </a:extLst>
          </p:cNvPr>
          <p:cNvSpPr txBox="1"/>
          <p:nvPr/>
        </p:nvSpPr>
        <p:spPr>
          <a:xfrm>
            <a:off x="2707864" y="3768744"/>
            <a:ext cx="212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Add a README file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308867-5F7B-735F-5F8A-845471A982C0}"/>
              </a:ext>
            </a:extLst>
          </p:cNvPr>
          <p:cNvSpPr txBox="1"/>
          <p:nvPr/>
        </p:nvSpPr>
        <p:spPr>
          <a:xfrm>
            <a:off x="1927674" y="3069533"/>
            <a:ext cx="306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Choose public or private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EA9B8B-83EA-0DBD-3CC7-D4B256CB2C2A}"/>
              </a:ext>
            </a:extLst>
          </p:cNvPr>
          <p:cNvSpPr txBox="1"/>
          <p:nvPr/>
        </p:nvSpPr>
        <p:spPr>
          <a:xfrm>
            <a:off x="1410102" y="5042962"/>
            <a:ext cx="374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Choose a license if you wish</a:t>
            </a:r>
          </a:p>
        </p:txBody>
      </p:sp>
    </p:spTree>
    <p:extLst>
      <p:ext uri="{BB962C8B-B14F-4D97-AF65-F5344CB8AC3E}">
        <p14:creationId xmlns:p14="http://schemas.microsoft.com/office/powerpoint/2010/main" val="481547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C066BD3-EABC-C0BE-BB97-4FBDC190BBAF}"/>
              </a:ext>
            </a:extLst>
          </p:cNvPr>
          <p:cNvSpPr/>
          <p:nvPr/>
        </p:nvSpPr>
        <p:spPr>
          <a:xfrm>
            <a:off x="663967" y="913369"/>
            <a:ext cx="4579930" cy="5531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86E45-A36A-FB4A-DC44-B679085C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88" y="145176"/>
            <a:ext cx="10349965" cy="740673"/>
          </a:xfrm>
        </p:spPr>
        <p:txBody>
          <a:bodyPr>
            <a:normAutofit/>
          </a:bodyPr>
          <a:lstStyle/>
          <a:p>
            <a:r>
              <a:rPr lang="en-US" dirty="0"/>
              <a:t>Step 2: Clone the repository from GitHub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B4547-6229-69AD-3137-579E024FE180}"/>
              </a:ext>
            </a:extLst>
          </p:cNvPr>
          <p:cNvSpPr txBox="1"/>
          <p:nvPr/>
        </p:nvSpPr>
        <p:spPr>
          <a:xfrm>
            <a:off x="1931044" y="921508"/>
            <a:ext cx="204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computer</a:t>
            </a:r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6253A88F-0438-5E63-05ED-D62D65F7148E}"/>
              </a:ext>
            </a:extLst>
          </p:cNvPr>
          <p:cNvSpPr/>
          <p:nvPr/>
        </p:nvSpPr>
        <p:spPr>
          <a:xfrm>
            <a:off x="5822348" y="1854427"/>
            <a:ext cx="2743200" cy="76906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EF7788-A94B-AAEA-89E9-10BF31054E4C}"/>
              </a:ext>
            </a:extLst>
          </p:cNvPr>
          <p:cNvSpPr/>
          <p:nvPr/>
        </p:nvSpPr>
        <p:spPr>
          <a:xfrm>
            <a:off x="9144000" y="885849"/>
            <a:ext cx="2303362" cy="40218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2" name="Can 21">
            <a:extLst>
              <a:ext uri="{FF2B5EF4-FFF2-40B4-BE49-F238E27FC236}">
                <a16:creationId xmlns:a16="http://schemas.microsoft.com/office/drawing/2014/main" id="{68BCCBDD-4FD7-DFD9-BFA8-B2ED7F7C8081}"/>
              </a:ext>
            </a:extLst>
          </p:cNvPr>
          <p:cNvSpPr/>
          <p:nvPr/>
        </p:nvSpPr>
        <p:spPr>
          <a:xfrm>
            <a:off x="9352344" y="1671378"/>
            <a:ext cx="1886672" cy="1135167"/>
          </a:xfrm>
          <a:prstGeom prst="can">
            <a:avLst/>
          </a:prstGeom>
          <a:solidFill>
            <a:srgbClr val="6ABD4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3250-final-project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3A5D20-FC2B-8192-5EF5-CF6A01D8FCAF}"/>
              </a:ext>
            </a:extLst>
          </p:cNvPr>
          <p:cNvSpPr txBox="1"/>
          <p:nvPr/>
        </p:nvSpPr>
        <p:spPr>
          <a:xfrm>
            <a:off x="9506756" y="913369"/>
            <a:ext cx="1577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GitHub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8D75EA-F99C-FC57-C6CD-8FE1ED8EBB4B}"/>
              </a:ext>
            </a:extLst>
          </p:cNvPr>
          <p:cNvSpPr txBox="1"/>
          <p:nvPr/>
        </p:nvSpPr>
        <p:spPr>
          <a:xfrm>
            <a:off x="9144000" y="3188837"/>
            <a:ext cx="2303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chemeClr val="tx1"/>
                </a:solidFill>
              </a:rPr>
              <a:t>README.md</a:t>
            </a:r>
            <a:endParaRPr lang="en-US" i="1" dirty="0">
              <a:solidFill>
                <a:schemeClr val="tx1"/>
              </a:solidFill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.</a:t>
            </a:r>
            <a:r>
              <a:rPr lang="en-US" i="1" dirty="0" err="1">
                <a:solidFill>
                  <a:schemeClr val="tx1"/>
                </a:solidFill>
              </a:rPr>
              <a:t>gitignore</a:t>
            </a:r>
            <a:endParaRPr lang="en-US" i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CFD0EA8-0D29-4C18-957F-AA8E9B67CF8D}"/>
              </a:ext>
            </a:extLst>
          </p:cNvPr>
          <p:cNvSpPr/>
          <p:nvPr/>
        </p:nvSpPr>
        <p:spPr>
          <a:xfrm>
            <a:off x="1231037" y="2278738"/>
            <a:ext cx="2141349" cy="523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3250-final-project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71E15D2-BE51-4E6E-D44C-714F4AE92500}"/>
              </a:ext>
            </a:extLst>
          </p:cNvPr>
          <p:cNvSpPr/>
          <p:nvPr/>
        </p:nvSpPr>
        <p:spPr>
          <a:xfrm>
            <a:off x="2624185" y="3087904"/>
            <a:ext cx="1410346" cy="523767"/>
          </a:xfrm>
          <a:prstGeom prst="roundRect">
            <a:avLst/>
          </a:prstGeom>
          <a:solidFill>
            <a:srgbClr val="E88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.git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B8080E-509D-4D40-996D-D578F1DBC6A6}"/>
              </a:ext>
            </a:extLst>
          </p:cNvPr>
          <p:cNvSpPr/>
          <p:nvPr/>
        </p:nvSpPr>
        <p:spPr>
          <a:xfrm>
            <a:off x="2774001" y="4628217"/>
            <a:ext cx="1260529" cy="426203"/>
          </a:xfrm>
          <a:prstGeom prst="rect">
            <a:avLst/>
          </a:prstGeom>
          <a:solidFill>
            <a:srgbClr val="E88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8B5C3D1-10B0-94DB-1FA3-21F4F56A3690}"/>
              </a:ext>
            </a:extLst>
          </p:cNvPr>
          <p:cNvCxnSpPr>
            <a:cxnSpLocks/>
            <a:stCxn id="26" idx="2"/>
            <a:endCxn id="27" idx="1"/>
          </p:cNvCxnSpPr>
          <p:nvPr/>
        </p:nvCxnSpPr>
        <p:spPr>
          <a:xfrm rot="16200000" flipH="1">
            <a:off x="2189307" y="2914909"/>
            <a:ext cx="547283" cy="322473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FEBBC13-5C63-3AE1-A5A0-F663F3727242}"/>
              </a:ext>
            </a:extLst>
          </p:cNvPr>
          <p:cNvSpPr/>
          <p:nvPr/>
        </p:nvSpPr>
        <p:spPr>
          <a:xfrm>
            <a:off x="2774002" y="4038507"/>
            <a:ext cx="1410346" cy="426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README.md</a:t>
            </a:r>
            <a:endParaRPr lang="en-US" dirty="0"/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E50A2B6B-CE25-FECE-2906-C338C5F24BEC}"/>
              </a:ext>
            </a:extLst>
          </p:cNvPr>
          <p:cNvCxnSpPr>
            <a:cxnSpLocks/>
            <a:stCxn id="26" idx="2"/>
            <a:endCxn id="31" idx="1"/>
          </p:cNvCxnSpPr>
          <p:nvPr/>
        </p:nvCxnSpPr>
        <p:spPr>
          <a:xfrm rot="16200000" flipH="1">
            <a:off x="1813305" y="3290912"/>
            <a:ext cx="1449104" cy="472290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AB971D1A-D28C-6B2D-4817-17F740167FCF}"/>
              </a:ext>
            </a:extLst>
          </p:cNvPr>
          <p:cNvCxnSpPr>
            <a:cxnSpLocks/>
            <a:stCxn id="26" idx="2"/>
            <a:endCxn id="29" idx="1"/>
          </p:cNvCxnSpPr>
          <p:nvPr/>
        </p:nvCxnSpPr>
        <p:spPr>
          <a:xfrm rot="16200000" flipH="1">
            <a:off x="1518449" y="3585767"/>
            <a:ext cx="2038814" cy="472289"/>
          </a:xfrm>
          <a:prstGeom prst="bentConnector2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0754587-E208-BB89-D5F4-DEF8E50A2B1C}"/>
              </a:ext>
            </a:extLst>
          </p:cNvPr>
          <p:cNvSpPr/>
          <p:nvPr/>
        </p:nvSpPr>
        <p:spPr>
          <a:xfrm>
            <a:off x="1081221" y="2153137"/>
            <a:ext cx="3745422" cy="3159643"/>
          </a:xfrm>
          <a:prstGeom prst="rect">
            <a:avLst/>
          </a:prstGeom>
          <a:noFill/>
          <a:ln w="28575">
            <a:solidFill>
              <a:srgbClr val="E88B1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an 35">
            <a:extLst>
              <a:ext uri="{FF2B5EF4-FFF2-40B4-BE49-F238E27FC236}">
                <a16:creationId xmlns:a16="http://schemas.microsoft.com/office/drawing/2014/main" id="{1C2F146E-A5F8-EE13-FFA1-98157BCF034E}"/>
              </a:ext>
            </a:extLst>
          </p:cNvPr>
          <p:cNvSpPr/>
          <p:nvPr/>
        </p:nvSpPr>
        <p:spPr>
          <a:xfrm>
            <a:off x="3888965" y="2863859"/>
            <a:ext cx="393539" cy="394083"/>
          </a:xfrm>
          <a:prstGeom prst="can">
            <a:avLst/>
          </a:prstGeom>
          <a:solidFill>
            <a:srgbClr val="E88B1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5CA1A8-127B-FE24-D866-654017D16028}"/>
              </a:ext>
            </a:extLst>
          </p:cNvPr>
          <p:cNvSpPr txBox="1"/>
          <p:nvPr/>
        </p:nvSpPr>
        <p:spPr>
          <a:xfrm>
            <a:off x="1562094" y="1634509"/>
            <a:ext cx="2434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88B1F"/>
                </a:solidFill>
              </a:rPr>
              <a:t>local repository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1CBA1-6B4E-0F29-9633-63D2BBDA1D38}"/>
              </a:ext>
            </a:extLst>
          </p:cNvPr>
          <p:cNvSpPr txBox="1"/>
          <p:nvPr/>
        </p:nvSpPr>
        <p:spPr>
          <a:xfrm>
            <a:off x="6406050" y="2542506"/>
            <a:ext cx="23033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is done the first time you bring the remote repository down to your computer and creates a local repository.</a:t>
            </a:r>
          </a:p>
          <a:p>
            <a:endParaRPr lang="en-US" i="1" dirty="0"/>
          </a:p>
          <a:p>
            <a:r>
              <a:rPr lang="en-US" i="1" dirty="0"/>
              <a:t>Clone includes all files and folders plus links to the remote repository.</a:t>
            </a:r>
          </a:p>
        </p:txBody>
      </p:sp>
    </p:spTree>
    <p:extLst>
      <p:ext uri="{BB962C8B-B14F-4D97-AF65-F5344CB8AC3E}">
        <p14:creationId xmlns:p14="http://schemas.microsoft.com/office/powerpoint/2010/main" val="390407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71E9-A281-F5A7-5D71-31379A4B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Cloning a remote repository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A1F81-9C42-7C4E-2C26-B2B157937E36}"/>
              </a:ext>
            </a:extLst>
          </p:cNvPr>
          <p:cNvSpPr txBox="1"/>
          <p:nvPr/>
        </p:nvSpPr>
        <p:spPr>
          <a:xfrm>
            <a:off x="1504121" y="1823681"/>
            <a:ext cx="3241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GitHub Repository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B9790-4CDB-8F6B-1EEC-746E2B8DEABA}"/>
              </a:ext>
            </a:extLst>
          </p:cNvPr>
          <p:cNvSpPr txBox="1"/>
          <p:nvPr/>
        </p:nvSpPr>
        <p:spPr>
          <a:xfrm>
            <a:off x="8212835" y="1828901"/>
            <a:ext cx="3241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GitHub Desktop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A8C582-121F-8F48-9D63-50FD4353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74" y="2509395"/>
            <a:ext cx="6826797" cy="3151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C4A6F7-1E60-CD2E-4D55-5FC1D88BD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709" y="2471141"/>
            <a:ext cx="4751017" cy="32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71E9-A281-F5A7-5D71-31379A4B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repository (project folder)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B1DB6B0-ADAE-1C4C-182B-54F438D2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432" y="1690688"/>
            <a:ext cx="7772400" cy="3954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265A45-E09E-D732-FAE2-254775709CE9}"/>
              </a:ext>
            </a:extLst>
          </p:cNvPr>
          <p:cNvSpPr txBox="1"/>
          <p:nvPr/>
        </p:nvSpPr>
        <p:spPr>
          <a:xfrm>
            <a:off x="9452758" y="1776051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hidden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D4985-34A6-9FCA-3BD5-9B0B8EBE3270}"/>
              </a:ext>
            </a:extLst>
          </p:cNvPr>
          <p:cNvSpPr txBox="1"/>
          <p:nvPr/>
        </p:nvSpPr>
        <p:spPr>
          <a:xfrm>
            <a:off x="9210642" y="3856890"/>
            <a:ext cx="2763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EC5637"/>
                </a:solidFill>
              </a:rPr>
              <a:t>on your computer</a:t>
            </a:r>
          </a:p>
        </p:txBody>
      </p:sp>
    </p:spTree>
    <p:extLst>
      <p:ext uri="{BB962C8B-B14F-4D97-AF65-F5344CB8AC3E}">
        <p14:creationId xmlns:p14="http://schemas.microsoft.com/office/powerpoint/2010/main" val="3240448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D424-C697-71CB-7FEC-37EFC87F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022131-161F-FBC2-9869-7EAB9BA6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work on my project?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CA57B-034D-4F11-67C3-46BCA9915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4067502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DFF2-4A94-DE98-8C54-ECC89ADD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01615" cy="1325563"/>
          </a:xfrm>
        </p:spPr>
        <p:txBody>
          <a:bodyPr/>
          <a:lstStyle/>
          <a:p>
            <a:r>
              <a:rPr lang="en-US" dirty="0"/>
              <a:t>Add new files and folders to local project folder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F2CA6E3-4676-D2FC-B526-7BF076DA47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714"/>
          <a:stretch/>
        </p:blipFill>
        <p:spPr>
          <a:xfrm>
            <a:off x="4167415" y="4469606"/>
            <a:ext cx="7772400" cy="201930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2BC9C1F-B319-6947-0E3A-2F4E8948E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863428"/>
            <a:ext cx="51816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82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32490E-2F7C-5F86-35C7-CFC923BDF133}"/>
              </a:ext>
            </a:extLst>
          </p:cNvPr>
          <p:cNvSpPr/>
          <p:nvPr/>
        </p:nvSpPr>
        <p:spPr>
          <a:xfrm>
            <a:off x="2200707" y="1435244"/>
            <a:ext cx="9677746" cy="5326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B9219-5FC5-79DE-1389-559677DD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537"/>
          </a:xfrm>
        </p:spPr>
        <p:txBody>
          <a:bodyPr/>
          <a:lstStyle/>
          <a:p>
            <a:r>
              <a:rPr lang="en-US" dirty="0"/>
              <a:t>Step 3: Work on your project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E7B45F-AD40-5E4F-31ED-6837F5AF5478}"/>
              </a:ext>
            </a:extLst>
          </p:cNvPr>
          <p:cNvSpPr/>
          <p:nvPr/>
        </p:nvSpPr>
        <p:spPr>
          <a:xfrm>
            <a:off x="2299246" y="2598516"/>
            <a:ext cx="1400537" cy="555585"/>
          </a:xfrm>
          <a:prstGeom prst="roundRect">
            <a:avLst/>
          </a:prstGeom>
          <a:solidFill>
            <a:srgbClr val="E88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Untracked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44757C-7AE4-DF36-B4C3-19A2857F535E}"/>
              </a:ext>
            </a:extLst>
          </p:cNvPr>
          <p:cNvSpPr/>
          <p:nvPr/>
        </p:nvSpPr>
        <p:spPr>
          <a:xfrm>
            <a:off x="5532207" y="2615879"/>
            <a:ext cx="1400537" cy="5555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Unmodified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09CCA9-983C-E55D-93CE-093EA650415C}"/>
              </a:ext>
            </a:extLst>
          </p:cNvPr>
          <p:cNvSpPr/>
          <p:nvPr/>
        </p:nvSpPr>
        <p:spPr>
          <a:xfrm>
            <a:off x="7142056" y="2598515"/>
            <a:ext cx="1400537" cy="5555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Modified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33FA06-32C8-BD60-77FA-2E6D0EF904E9}"/>
              </a:ext>
            </a:extLst>
          </p:cNvPr>
          <p:cNvSpPr/>
          <p:nvPr/>
        </p:nvSpPr>
        <p:spPr>
          <a:xfrm>
            <a:off x="8757210" y="2575366"/>
            <a:ext cx="1400537" cy="5555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Staged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A00030DD-D3CA-4068-4FC1-5ACDD72E218B}"/>
              </a:ext>
            </a:extLst>
          </p:cNvPr>
          <p:cNvSpPr/>
          <p:nvPr/>
        </p:nvSpPr>
        <p:spPr>
          <a:xfrm>
            <a:off x="10377668" y="2037143"/>
            <a:ext cx="1196051" cy="115747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  <a:p>
            <a:pPr algn="ctr"/>
            <a:r>
              <a:rPr lang="en-US" dirty="0"/>
              <a:t>repository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462BE8-012E-54F5-373E-E49A145273A8}"/>
              </a:ext>
            </a:extLst>
          </p:cNvPr>
          <p:cNvCxnSpPr>
            <a:stCxn id="4" idx="2"/>
          </p:cNvCxnSpPr>
          <p:nvPr/>
        </p:nvCxnSpPr>
        <p:spPr>
          <a:xfrm>
            <a:off x="2999515" y="3154101"/>
            <a:ext cx="10610" cy="3124378"/>
          </a:xfrm>
          <a:prstGeom prst="line">
            <a:avLst/>
          </a:prstGeom>
          <a:ln w="57150">
            <a:solidFill>
              <a:srgbClr val="E88B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36F518-8EBA-90EB-93B6-17AAEED6F6B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232476" y="3171464"/>
            <a:ext cx="7957" cy="354185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D7B3E3-7BC0-A4BC-334D-BD3BA749D63D}"/>
              </a:ext>
            </a:extLst>
          </p:cNvPr>
          <p:cNvCxnSpPr>
            <a:cxnSpLocks/>
          </p:cNvCxnSpPr>
          <p:nvPr/>
        </p:nvCxnSpPr>
        <p:spPr>
          <a:xfrm flipH="1">
            <a:off x="7833154" y="3154101"/>
            <a:ext cx="9171" cy="355921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F1D426-9896-D985-A601-192622BF76B8}"/>
              </a:ext>
            </a:extLst>
          </p:cNvPr>
          <p:cNvCxnSpPr>
            <a:cxnSpLocks/>
          </p:cNvCxnSpPr>
          <p:nvPr/>
        </p:nvCxnSpPr>
        <p:spPr>
          <a:xfrm>
            <a:off x="9457479" y="3130952"/>
            <a:ext cx="9171" cy="358236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F2C917-A154-51EB-1FC8-03A34936BBA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0975694" y="3194613"/>
            <a:ext cx="33849" cy="351870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7E25CAA-EC7D-C651-C75E-9037F4F4EA32}"/>
              </a:ext>
            </a:extLst>
          </p:cNvPr>
          <p:cNvSpPr/>
          <p:nvPr/>
        </p:nvSpPr>
        <p:spPr>
          <a:xfrm>
            <a:off x="392572" y="2708474"/>
            <a:ext cx="837234" cy="705271"/>
          </a:xfrm>
          <a:prstGeom prst="rect">
            <a:avLst/>
          </a:prstGeom>
          <a:solidFill>
            <a:srgbClr val="EC5637"/>
          </a:solidFill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0A009A-CF63-969E-3F07-B117D35CC01E}"/>
              </a:ext>
            </a:extLst>
          </p:cNvPr>
          <p:cNvSpPr/>
          <p:nvPr/>
        </p:nvSpPr>
        <p:spPr>
          <a:xfrm>
            <a:off x="192908" y="3531063"/>
            <a:ext cx="1236563" cy="705271"/>
          </a:xfrm>
          <a:prstGeom prst="rect">
            <a:avLst/>
          </a:prstGeom>
          <a:solidFill>
            <a:srgbClr val="EC5637"/>
          </a:solidFill>
          <a:ln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Sub-folders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1FDE64-7D35-2589-3F0F-24B037712A71}"/>
              </a:ext>
            </a:extLst>
          </p:cNvPr>
          <p:cNvSpPr txBox="1"/>
          <p:nvPr/>
        </p:nvSpPr>
        <p:spPr>
          <a:xfrm>
            <a:off x="2299246" y="1532601"/>
            <a:ext cx="412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folder:    </a:t>
            </a:r>
            <a:r>
              <a:rPr lang="en-US" b="1" dirty="0"/>
              <a:t>3250-final-project</a:t>
            </a:r>
          </a:p>
          <a:p>
            <a:r>
              <a:rPr lang="en-US" i="1" dirty="0"/>
              <a:t>This might also be called the local repo.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5553A09-98DF-8DAB-895D-761F88172670}"/>
              </a:ext>
            </a:extLst>
          </p:cNvPr>
          <p:cNvSpPr/>
          <p:nvPr/>
        </p:nvSpPr>
        <p:spPr>
          <a:xfrm>
            <a:off x="3914401" y="2598516"/>
            <a:ext cx="1400537" cy="5555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Tracked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1F687E-FCDA-EE6B-2CB6-8946F8C5665E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614670" y="3154101"/>
            <a:ext cx="10609" cy="314752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C07F24-0501-1A9E-1BD3-52113A56AD9E}"/>
              </a:ext>
            </a:extLst>
          </p:cNvPr>
          <p:cNvCxnSpPr/>
          <p:nvPr/>
        </p:nvCxnSpPr>
        <p:spPr>
          <a:xfrm>
            <a:off x="1429471" y="3413745"/>
            <a:ext cx="1570044" cy="15255"/>
          </a:xfrm>
          <a:prstGeom prst="straightConnector1">
            <a:avLst/>
          </a:prstGeom>
          <a:ln w="76200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06608C-4EF6-7B7D-2BA6-002C32DD3653}"/>
              </a:ext>
            </a:extLst>
          </p:cNvPr>
          <p:cNvCxnSpPr/>
          <p:nvPr/>
        </p:nvCxnSpPr>
        <p:spPr>
          <a:xfrm>
            <a:off x="3019291" y="3834380"/>
            <a:ext cx="1570044" cy="15255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F116B2-6020-C057-7067-F9411BC86199}"/>
              </a:ext>
            </a:extLst>
          </p:cNvPr>
          <p:cNvCxnSpPr>
            <a:cxnSpLocks/>
          </p:cNvCxnSpPr>
          <p:nvPr/>
        </p:nvCxnSpPr>
        <p:spPr>
          <a:xfrm>
            <a:off x="7861857" y="4131639"/>
            <a:ext cx="1612501" cy="20118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AAB0634-4CC2-540F-C097-CABCC54F0FCE}"/>
              </a:ext>
            </a:extLst>
          </p:cNvPr>
          <p:cNvCxnSpPr>
            <a:cxnSpLocks/>
          </p:cNvCxnSpPr>
          <p:nvPr/>
        </p:nvCxnSpPr>
        <p:spPr>
          <a:xfrm>
            <a:off x="9468088" y="4491818"/>
            <a:ext cx="1507605" cy="0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FA8F4DC-4EAB-9855-B017-ABA00EB1902F}"/>
              </a:ext>
            </a:extLst>
          </p:cNvPr>
          <p:cNvSpPr/>
          <p:nvPr/>
        </p:nvSpPr>
        <p:spPr>
          <a:xfrm>
            <a:off x="6119151" y="3511471"/>
            <a:ext cx="217502" cy="805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DB233F-2147-7AC0-FDC1-0BF1C7AF838D}"/>
              </a:ext>
            </a:extLst>
          </p:cNvPr>
          <p:cNvCxnSpPr>
            <a:cxnSpLocks/>
            <a:stCxn id="58" idx="1"/>
          </p:cNvCxnSpPr>
          <p:nvPr/>
        </p:nvCxnSpPr>
        <p:spPr>
          <a:xfrm flipH="1">
            <a:off x="6209915" y="4717401"/>
            <a:ext cx="4989100" cy="5861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AC66EA-CAD6-4E41-B862-070D4BCC9167}"/>
              </a:ext>
            </a:extLst>
          </p:cNvPr>
          <p:cNvCxnSpPr>
            <a:cxnSpLocks/>
          </p:cNvCxnSpPr>
          <p:nvPr/>
        </p:nvCxnSpPr>
        <p:spPr>
          <a:xfrm flipV="1">
            <a:off x="4647566" y="3849635"/>
            <a:ext cx="3205368" cy="9735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E3055E-6460-A0AD-5219-FF903A950668}"/>
              </a:ext>
            </a:extLst>
          </p:cNvPr>
          <p:cNvCxnSpPr>
            <a:cxnSpLocks/>
          </p:cNvCxnSpPr>
          <p:nvPr/>
        </p:nvCxnSpPr>
        <p:spPr>
          <a:xfrm>
            <a:off x="6233330" y="5448403"/>
            <a:ext cx="1612501" cy="20118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9FB8B0-6A9F-BEDE-C5B2-26651D08663B}"/>
              </a:ext>
            </a:extLst>
          </p:cNvPr>
          <p:cNvCxnSpPr>
            <a:cxnSpLocks/>
          </p:cNvCxnSpPr>
          <p:nvPr/>
        </p:nvCxnSpPr>
        <p:spPr>
          <a:xfrm>
            <a:off x="7848956" y="5612220"/>
            <a:ext cx="1612501" cy="20118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53C852-8A60-EB0F-54BC-06B59ECD1C3B}"/>
              </a:ext>
            </a:extLst>
          </p:cNvPr>
          <p:cNvCxnSpPr>
            <a:cxnSpLocks/>
          </p:cNvCxnSpPr>
          <p:nvPr/>
        </p:nvCxnSpPr>
        <p:spPr>
          <a:xfrm>
            <a:off x="9461457" y="5899145"/>
            <a:ext cx="1507605" cy="0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749BBB2-89F3-8014-6B97-483C16EC4DCD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6198628" y="6082964"/>
            <a:ext cx="4979391" cy="22595"/>
          </a:xfrm>
          <a:prstGeom prst="straightConnector1">
            <a:avLst/>
          </a:prstGeom>
          <a:ln w="76200">
            <a:solidFill>
              <a:srgbClr val="5172B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6181A2C-1781-B214-BE70-C209555A43DE}"/>
              </a:ext>
            </a:extLst>
          </p:cNvPr>
          <p:cNvCxnSpPr>
            <a:cxnSpLocks/>
          </p:cNvCxnSpPr>
          <p:nvPr/>
        </p:nvCxnSpPr>
        <p:spPr>
          <a:xfrm flipH="1">
            <a:off x="3021700" y="4517412"/>
            <a:ext cx="1561517" cy="0"/>
          </a:xfrm>
          <a:prstGeom prst="straightConnector1">
            <a:avLst/>
          </a:prstGeom>
          <a:ln w="76200">
            <a:solidFill>
              <a:srgbClr val="E88B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0B047BD-0365-1B2D-7D14-DFFF9CEBFF1A}"/>
              </a:ext>
            </a:extLst>
          </p:cNvPr>
          <p:cNvSpPr/>
          <p:nvPr/>
        </p:nvSpPr>
        <p:spPr>
          <a:xfrm>
            <a:off x="6041987" y="5301213"/>
            <a:ext cx="5301205" cy="1157469"/>
          </a:xfrm>
          <a:prstGeom prst="rect">
            <a:avLst/>
          </a:prstGeom>
          <a:noFill/>
          <a:ln w="38100">
            <a:solidFill>
              <a:srgbClr val="6ABD4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7FFB69-A02B-FB10-75C9-D66C45E492F2}"/>
              </a:ext>
            </a:extLst>
          </p:cNvPr>
          <p:cNvSpPr txBox="1"/>
          <p:nvPr/>
        </p:nvSpPr>
        <p:spPr>
          <a:xfrm>
            <a:off x="1569076" y="3447809"/>
            <a:ext cx="1276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Add files to project folder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C1F62B-D94D-014D-EF13-3357A36ECBF4}"/>
              </a:ext>
            </a:extLst>
          </p:cNvPr>
          <p:cNvSpPr txBox="1"/>
          <p:nvPr/>
        </p:nvSpPr>
        <p:spPr>
          <a:xfrm>
            <a:off x="3246928" y="3463070"/>
            <a:ext cx="129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Track files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328DE9-BA5F-044B-5B50-65287AE37C62}"/>
              </a:ext>
            </a:extLst>
          </p:cNvPr>
          <p:cNvSpPr txBox="1"/>
          <p:nvPr/>
        </p:nvSpPr>
        <p:spPr>
          <a:xfrm>
            <a:off x="4867299" y="3859370"/>
            <a:ext cx="254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Newly added files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7F4D2D-C9F0-B4C4-48E4-0B5CD584865B}"/>
              </a:ext>
            </a:extLst>
          </p:cNvPr>
          <p:cNvSpPr txBox="1"/>
          <p:nvPr/>
        </p:nvSpPr>
        <p:spPr>
          <a:xfrm>
            <a:off x="7845830" y="3751445"/>
            <a:ext cx="257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Stage files for commit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364744-44B2-8D14-AD35-5D6AFEEBFC77}"/>
              </a:ext>
            </a:extLst>
          </p:cNvPr>
          <p:cNvSpPr txBox="1"/>
          <p:nvPr/>
        </p:nvSpPr>
        <p:spPr>
          <a:xfrm>
            <a:off x="9706190" y="4141698"/>
            <a:ext cx="106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commit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81D1A5-9647-E6C0-E65F-889EA7000EF7}"/>
              </a:ext>
            </a:extLst>
          </p:cNvPr>
          <p:cNvSpPr txBox="1"/>
          <p:nvPr/>
        </p:nvSpPr>
        <p:spPr>
          <a:xfrm>
            <a:off x="6426507" y="4352746"/>
            <a:ext cx="3205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Sets file status to unmodified</a:t>
            </a:r>
          </a:p>
        </p:txBody>
      </p:sp>
      <p:sp>
        <p:nvSpPr>
          <p:cNvPr id="58" name="U-Turn Arrow 57">
            <a:extLst>
              <a:ext uri="{FF2B5EF4-FFF2-40B4-BE49-F238E27FC236}">
                <a16:creationId xmlns:a16="http://schemas.microsoft.com/office/drawing/2014/main" id="{8AAE0B7D-7219-C5C8-7B71-93B9C343CFDF}"/>
              </a:ext>
            </a:extLst>
          </p:cNvPr>
          <p:cNvSpPr/>
          <p:nvPr/>
        </p:nvSpPr>
        <p:spPr>
          <a:xfrm rot="5400000">
            <a:off x="11199014" y="4296213"/>
            <a:ext cx="336950" cy="673899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U-Turn Arrow 60">
            <a:extLst>
              <a:ext uri="{FF2B5EF4-FFF2-40B4-BE49-F238E27FC236}">
                <a16:creationId xmlns:a16="http://schemas.microsoft.com/office/drawing/2014/main" id="{AEF7AF52-EE62-2C48-E767-0622C42FA88E}"/>
              </a:ext>
            </a:extLst>
          </p:cNvPr>
          <p:cNvSpPr/>
          <p:nvPr/>
        </p:nvSpPr>
        <p:spPr>
          <a:xfrm rot="5400000">
            <a:off x="11178018" y="5684371"/>
            <a:ext cx="336950" cy="673899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978EB4-7E72-ED43-195A-6548978A4CE5}"/>
              </a:ext>
            </a:extLst>
          </p:cNvPr>
          <p:cNvSpPr txBox="1"/>
          <p:nvPr/>
        </p:nvSpPr>
        <p:spPr>
          <a:xfrm>
            <a:off x="3259112" y="4579725"/>
            <a:ext cx="137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Untrack files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C32E91-5AB6-26B7-8F88-8634BEC92884}"/>
              </a:ext>
            </a:extLst>
          </p:cNvPr>
          <p:cNvSpPr txBox="1"/>
          <p:nvPr/>
        </p:nvSpPr>
        <p:spPr>
          <a:xfrm>
            <a:off x="4696216" y="5414877"/>
            <a:ext cx="1386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ABD44"/>
                </a:solidFill>
              </a:rPr>
              <a:t>Repeats as you work on existing files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A18967-306B-2255-CEBD-EE1FD51D814E}"/>
              </a:ext>
            </a:extLst>
          </p:cNvPr>
          <p:cNvSpPr txBox="1"/>
          <p:nvPr/>
        </p:nvSpPr>
        <p:spPr>
          <a:xfrm>
            <a:off x="6316433" y="5448403"/>
            <a:ext cx="137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Edit the files</a:t>
            </a:r>
          </a:p>
        </p:txBody>
      </p:sp>
    </p:spTree>
    <p:extLst>
      <p:ext uri="{BB962C8B-B14F-4D97-AF65-F5344CB8AC3E}">
        <p14:creationId xmlns:p14="http://schemas.microsoft.com/office/powerpoint/2010/main" val="2899223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DE8378CE-1F27-2C2F-E2E8-7A91A40010C5}"/>
              </a:ext>
            </a:extLst>
          </p:cNvPr>
          <p:cNvSpPr/>
          <p:nvPr/>
        </p:nvSpPr>
        <p:spPr>
          <a:xfrm>
            <a:off x="9420896" y="933719"/>
            <a:ext cx="2215166" cy="1326524"/>
          </a:xfrm>
          <a:prstGeom prst="cloud">
            <a:avLst/>
          </a:prstGeom>
          <a:solidFill>
            <a:srgbClr val="ECCA2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31CB4A7F-BA0E-38C8-EF2E-E46C8AF1BDB9}"/>
              </a:ext>
            </a:extLst>
          </p:cNvPr>
          <p:cNvSpPr/>
          <p:nvPr/>
        </p:nvSpPr>
        <p:spPr>
          <a:xfrm>
            <a:off x="8167349" y="4086897"/>
            <a:ext cx="2215166" cy="1326524"/>
          </a:xfrm>
          <a:prstGeom prst="cloud">
            <a:avLst/>
          </a:prstGeom>
          <a:solidFill>
            <a:srgbClr val="E5E9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dillinger.io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7E3339-1718-727E-29FA-FDCC9D63AD97}"/>
              </a:ext>
            </a:extLst>
          </p:cNvPr>
          <p:cNvSpPr/>
          <p:nvPr/>
        </p:nvSpPr>
        <p:spPr>
          <a:xfrm>
            <a:off x="6031605" y="828324"/>
            <a:ext cx="1777284" cy="1622738"/>
          </a:xfrm>
          <a:prstGeom prst="roundRect">
            <a:avLst/>
          </a:prstGeom>
          <a:solidFill>
            <a:srgbClr val="E88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 Desktop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B09844-23F5-8C93-E74B-6453B9994E9E}"/>
              </a:ext>
            </a:extLst>
          </p:cNvPr>
          <p:cNvSpPr/>
          <p:nvPr/>
        </p:nvSpPr>
        <p:spPr>
          <a:xfrm>
            <a:off x="2642314" y="682581"/>
            <a:ext cx="1777284" cy="1622738"/>
          </a:xfrm>
          <a:prstGeom prst="roundRect">
            <a:avLst/>
          </a:prstGeom>
          <a:solidFill>
            <a:srgbClr val="6ABD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folder on your computer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511B4A-D8B9-FF8A-2F42-C0E7FC172319}"/>
              </a:ext>
            </a:extLst>
          </p:cNvPr>
          <p:cNvSpPr/>
          <p:nvPr/>
        </p:nvSpPr>
        <p:spPr>
          <a:xfrm>
            <a:off x="577399" y="3790683"/>
            <a:ext cx="1777284" cy="1622738"/>
          </a:xfrm>
          <a:prstGeom prst="roundRect">
            <a:avLst/>
          </a:prstGeom>
          <a:solidFill>
            <a:srgbClr val="EC56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4D3950-64EC-EBBF-5214-F38B8072FABF}"/>
              </a:ext>
            </a:extLst>
          </p:cNvPr>
          <p:cNvSpPr/>
          <p:nvPr/>
        </p:nvSpPr>
        <p:spPr>
          <a:xfrm>
            <a:off x="4668588" y="3889424"/>
            <a:ext cx="1777284" cy="16227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VSCode</a:t>
            </a:r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5031EF3-6BE9-5791-4CD7-50AFE6BA7B8F}"/>
              </a:ext>
            </a:extLst>
          </p:cNvPr>
          <p:cNvSpPr/>
          <p:nvPr/>
        </p:nvSpPr>
        <p:spPr>
          <a:xfrm>
            <a:off x="574219" y="1596981"/>
            <a:ext cx="1797637" cy="2099257"/>
          </a:xfrm>
          <a:custGeom>
            <a:avLst/>
            <a:gdLst>
              <a:gd name="connsiteX0" fmla="*/ 355203 w 1797637"/>
              <a:gd name="connsiteY0" fmla="*/ 2099257 h 2099257"/>
              <a:gd name="connsiteX1" fmla="*/ 97625 w 1797637"/>
              <a:gd name="connsiteY1" fmla="*/ 721217 h 2099257"/>
              <a:gd name="connsiteX2" fmla="*/ 1797637 w 1797637"/>
              <a:gd name="connsiteY2" fmla="*/ 0 h 209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7637" h="2099257">
                <a:moveTo>
                  <a:pt x="355203" y="2099257"/>
                </a:moveTo>
                <a:cubicBezTo>
                  <a:pt x="106211" y="1585175"/>
                  <a:pt x="-142781" y="1071093"/>
                  <a:pt x="97625" y="721217"/>
                </a:cubicBezTo>
                <a:cubicBezTo>
                  <a:pt x="338031" y="371341"/>
                  <a:pt x="1067834" y="185670"/>
                  <a:pt x="1797637" y="0"/>
                </a:cubicBezTo>
              </a:path>
            </a:pathLst>
          </a:custGeom>
          <a:noFill/>
          <a:ln>
            <a:solidFill>
              <a:srgbClr val="EC5637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E1FF91C-346C-EEB5-68D8-FB0B19529B04}"/>
              </a:ext>
            </a:extLst>
          </p:cNvPr>
          <p:cNvSpPr/>
          <p:nvPr/>
        </p:nvSpPr>
        <p:spPr>
          <a:xfrm>
            <a:off x="997079" y="1906074"/>
            <a:ext cx="1357604" cy="1790163"/>
          </a:xfrm>
          <a:custGeom>
            <a:avLst/>
            <a:gdLst>
              <a:gd name="connsiteX0" fmla="*/ 355203 w 1797637"/>
              <a:gd name="connsiteY0" fmla="*/ 2099257 h 2099257"/>
              <a:gd name="connsiteX1" fmla="*/ 97625 w 1797637"/>
              <a:gd name="connsiteY1" fmla="*/ 721217 h 2099257"/>
              <a:gd name="connsiteX2" fmla="*/ 1797637 w 1797637"/>
              <a:gd name="connsiteY2" fmla="*/ 0 h 209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7637" h="2099257">
                <a:moveTo>
                  <a:pt x="355203" y="2099257"/>
                </a:moveTo>
                <a:cubicBezTo>
                  <a:pt x="106211" y="1585175"/>
                  <a:pt x="-142781" y="1071093"/>
                  <a:pt x="97625" y="721217"/>
                </a:cubicBezTo>
                <a:cubicBezTo>
                  <a:pt x="338031" y="371341"/>
                  <a:pt x="1067834" y="185670"/>
                  <a:pt x="1797637" y="0"/>
                </a:cubicBezTo>
              </a:path>
            </a:pathLst>
          </a:custGeom>
          <a:noFill/>
          <a:ln>
            <a:solidFill>
              <a:srgbClr val="EC5637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56F0831-3A47-6BBA-4316-A1780EC6C1D6}"/>
              </a:ext>
            </a:extLst>
          </p:cNvPr>
          <p:cNvSpPr/>
          <p:nvPr/>
        </p:nvSpPr>
        <p:spPr>
          <a:xfrm>
            <a:off x="3754934" y="2472745"/>
            <a:ext cx="729057" cy="2099256"/>
          </a:xfrm>
          <a:custGeom>
            <a:avLst/>
            <a:gdLst>
              <a:gd name="connsiteX0" fmla="*/ 46477 w 729057"/>
              <a:gd name="connsiteY0" fmla="*/ 0 h 2099256"/>
              <a:gd name="connsiteX1" fmla="*/ 72234 w 729057"/>
              <a:gd name="connsiteY1" fmla="*/ 1339403 h 2099256"/>
              <a:gd name="connsiteX2" fmla="*/ 729057 w 729057"/>
              <a:gd name="connsiteY2" fmla="*/ 2099256 h 2099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9057" h="2099256">
                <a:moveTo>
                  <a:pt x="46477" y="0"/>
                </a:moveTo>
                <a:cubicBezTo>
                  <a:pt x="2474" y="494763"/>
                  <a:pt x="-41529" y="989527"/>
                  <a:pt x="72234" y="1339403"/>
                </a:cubicBezTo>
                <a:cubicBezTo>
                  <a:pt x="185997" y="1689279"/>
                  <a:pt x="457527" y="1894267"/>
                  <a:pt x="729057" y="2099256"/>
                </a:cubicBezTo>
              </a:path>
            </a:pathLst>
          </a:custGeom>
          <a:noFill/>
          <a:ln>
            <a:solidFill>
              <a:srgbClr val="5172B1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567C73E-6173-9895-EC93-25E4EB9615C7}"/>
              </a:ext>
            </a:extLst>
          </p:cNvPr>
          <p:cNvSpPr/>
          <p:nvPr/>
        </p:nvSpPr>
        <p:spPr>
          <a:xfrm>
            <a:off x="3434081" y="2502795"/>
            <a:ext cx="985517" cy="2365420"/>
          </a:xfrm>
          <a:custGeom>
            <a:avLst/>
            <a:gdLst>
              <a:gd name="connsiteX0" fmla="*/ 46477 w 729057"/>
              <a:gd name="connsiteY0" fmla="*/ 0 h 2099256"/>
              <a:gd name="connsiteX1" fmla="*/ 72234 w 729057"/>
              <a:gd name="connsiteY1" fmla="*/ 1339403 h 2099256"/>
              <a:gd name="connsiteX2" fmla="*/ 729057 w 729057"/>
              <a:gd name="connsiteY2" fmla="*/ 2099256 h 2099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9057" h="2099256">
                <a:moveTo>
                  <a:pt x="46477" y="0"/>
                </a:moveTo>
                <a:cubicBezTo>
                  <a:pt x="2474" y="494763"/>
                  <a:pt x="-41529" y="989527"/>
                  <a:pt x="72234" y="1339403"/>
                </a:cubicBezTo>
                <a:cubicBezTo>
                  <a:pt x="185997" y="1689279"/>
                  <a:pt x="457527" y="1894267"/>
                  <a:pt x="729057" y="2099256"/>
                </a:cubicBezTo>
              </a:path>
            </a:pathLst>
          </a:custGeom>
          <a:noFill/>
          <a:ln>
            <a:solidFill>
              <a:srgbClr val="5172B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2CDD010-7A66-04C5-75D3-B8DBC4F3C059}"/>
              </a:ext>
            </a:extLst>
          </p:cNvPr>
          <p:cNvSpPr/>
          <p:nvPr/>
        </p:nvSpPr>
        <p:spPr>
          <a:xfrm>
            <a:off x="7922653" y="1229365"/>
            <a:ext cx="1378040" cy="284473"/>
          </a:xfrm>
          <a:custGeom>
            <a:avLst/>
            <a:gdLst>
              <a:gd name="connsiteX0" fmla="*/ 0 w 1378040"/>
              <a:gd name="connsiteY0" fmla="*/ 284473 h 284473"/>
              <a:gd name="connsiteX1" fmla="*/ 656823 w 1378040"/>
              <a:gd name="connsiteY1" fmla="*/ 1138 h 284473"/>
              <a:gd name="connsiteX2" fmla="*/ 1378040 w 1378040"/>
              <a:gd name="connsiteY2" fmla="*/ 181442 h 28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8040" h="284473">
                <a:moveTo>
                  <a:pt x="0" y="284473"/>
                </a:moveTo>
                <a:cubicBezTo>
                  <a:pt x="213575" y="151391"/>
                  <a:pt x="427150" y="18310"/>
                  <a:pt x="656823" y="1138"/>
                </a:cubicBezTo>
                <a:cubicBezTo>
                  <a:pt x="886496" y="-16034"/>
                  <a:pt x="1257837" y="166417"/>
                  <a:pt x="1378040" y="181442"/>
                </a:cubicBezTo>
              </a:path>
            </a:pathLst>
          </a:custGeom>
          <a:noFill/>
          <a:ln>
            <a:solidFill>
              <a:srgbClr val="E88B1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9DEBE23-6529-55D4-BD20-3FE2E3D7C751}"/>
              </a:ext>
            </a:extLst>
          </p:cNvPr>
          <p:cNvSpPr/>
          <p:nvPr/>
        </p:nvSpPr>
        <p:spPr>
          <a:xfrm flipV="1">
            <a:off x="7929092" y="1721034"/>
            <a:ext cx="1378040" cy="284473"/>
          </a:xfrm>
          <a:custGeom>
            <a:avLst/>
            <a:gdLst>
              <a:gd name="connsiteX0" fmla="*/ 0 w 1378040"/>
              <a:gd name="connsiteY0" fmla="*/ 284473 h 284473"/>
              <a:gd name="connsiteX1" fmla="*/ 656823 w 1378040"/>
              <a:gd name="connsiteY1" fmla="*/ 1138 h 284473"/>
              <a:gd name="connsiteX2" fmla="*/ 1378040 w 1378040"/>
              <a:gd name="connsiteY2" fmla="*/ 181442 h 28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8040" h="284473">
                <a:moveTo>
                  <a:pt x="0" y="284473"/>
                </a:moveTo>
                <a:cubicBezTo>
                  <a:pt x="213575" y="151391"/>
                  <a:pt x="427150" y="18310"/>
                  <a:pt x="656823" y="1138"/>
                </a:cubicBezTo>
                <a:cubicBezTo>
                  <a:pt x="886496" y="-16034"/>
                  <a:pt x="1257837" y="166417"/>
                  <a:pt x="1378040" y="181442"/>
                </a:cubicBezTo>
              </a:path>
            </a:pathLst>
          </a:custGeom>
          <a:noFill/>
          <a:ln>
            <a:solidFill>
              <a:srgbClr val="E88B1F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ABF305F-11E5-702E-4481-5D7B8ADB893D}"/>
              </a:ext>
            </a:extLst>
          </p:cNvPr>
          <p:cNvSpPr/>
          <p:nvPr/>
        </p:nvSpPr>
        <p:spPr>
          <a:xfrm>
            <a:off x="4488284" y="1193883"/>
            <a:ext cx="1378040" cy="284473"/>
          </a:xfrm>
          <a:custGeom>
            <a:avLst/>
            <a:gdLst>
              <a:gd name="connsiteX0" fmla="*/ 0 w 1378040"/>
              <a:gd name="connsiteY0" fmla="*/ 284473 h 284473"/>
              <a:gd name="connsiteX1" fmla="*/ 656823 w 1378040"/>
              <a:gd name="connsiteY1" fmla="*/ 1138 h 284473"/>
              <a:gd name="connsiteX2" fmla="*/ 1378040 w 1378040"/>
              <a:gd name="connsiteY2" fmla="*/ 181442 h 28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8040" h="284473">
                <a:moveTo>
                  <a:pt x="0" y="284473"/>
                </a:moveTo>
                <a:cubicBezTo>
                  <a:pt x="213575" y="151391"/>
                  <a:pt x="427150" y="18310"/>
                  <a:pt x="656823" y="1138"/>
                </a:cubicBezTo>
                <a:cubicBezTo>
                  <a:pt x="886496" y="-16034"/>
                  <a:pt x="1257837" y="166417"/>
                  <a:pt x="1378040" y="181442"/>
                </a:cubicBezTo>
              </a:path>
            </a:pathLst>
          </a:custGeom>
          <a:noFill/>
          <a:ln>
            <a:solidFill>
              <a:srgbClr val="6ABD4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24BAF66-C15E-F8D6-CEBF-A520B384C713}"/>
              </a:ext>
            </a:extLst>
          </p:cNvPr>
          <p:cNvSpPr/>
          <p:nvPr/>
        </p:nvSpPr>
        <p:spPr>
          <a:xfrm flipV="1">
            <a:off x="4494723" y="1685552"/>
            <a:ext cx="1378040" cy="284473"/>
          </a:xfrm>
          <a:custGeom>
            <a:avLst/>
            <a:gdLst>
              <a:gd name="connsiteX0" fmla="*/ 0 w 1378040"/>
              <a:gd name="connsiteY0" fmla="*/ 284473 h 284473"/>
              <a:gd name="connsiteX1" fmla="*/ 656823 w 1378040"/>
              <a:gd name="connsiteY1" fmla="*/ 1138 h 284473"/>
              <a:gd name="connsiteX2" fmla="*/ 1378040 w 1378040"/>
              <a:gd name="connsiteY2" fmla="*/ 181442 h 28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8040" h="284473">
                <a:moveTo>
                  <a:pt x="0" y="284473"/>
                </a:moveTo>
                <a:cubicBezTo>
                  <a:pt x="213575" y="151391"/>
                  <a:pt x="427150" y="18310"/>
                  <a:pt x="656823" y="1138"/>
                </a:cubicBezTo>
                <a:cubicBezTo>
                  <a:pt x="886496" y="-16034"/>
                  <a:pt x="1257837" y="166417"/>
                  <a:pt x="1378040" y="181442"/>
                </a:cubicBezTo>
              </a:path>
            </a:pathLst>
          </a:custGeom>
          <a:noFill/>
          <a:ln>
            <a:solidFill>
              <a:srgbClr val="6ABD44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3B29BFC5-9A1E-FB41-3373-C79B0C55381E}"/>
              </a:ext>
            </a:extLst>
          </p:cNvPr>
          <p:cNvSpPr/>
          <p:nvPr/>
        </p:nvSpPr>
        <p:spPr>
          <a:xfrm>
            <a:off x="6581104" y="4572001"/>
            <a:ext cx="1429555" cy="412123"/>
          </a:xfrm>
          <a:prstGeom prst="leftRightArrow">
            <a:avLst/>
          </a:prstGeom>
          <a:solidFill>
            <a:srgbClr val="E5E9E8"/>
          </a:solidFill>
          <a:ln>
            <a:solidFill>
              <a:srgbClr val="5172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9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4637-8413-C4A5-E3D7-139F063B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7AB7D4-F80E-4005-5E3E-1A520A23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commit my work?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9F2A8F-AF62-D4F9-FECC-C6C500255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832535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7A7D-7CFC-556C-21A0-286B7DB8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2" y="87601"/>
            <a:ext cx="10515600" cy="1325563"/>
          </a:xfrm>
        </p:spPr>
        <p:txBody>
          <a:bodyPr/>
          <a:lstStyle/>
          <a:p>
            <a:r>
              <a:rPr lang="en-US" dirty="0"/>
              <a:t>Commits </a:t>
            </a:r>
            <a:r>
              <a:rPr lang="en-US" i="1" dirty="0"/>
              <a:t>(these are local)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892DE9C-D61E-580F-9406-57ED76DAD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31" y="1534927"/>
            <a:ext cx="4940536" cy="506482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87C4403-1BD7-56AD-C4BF-320E2FA0A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603" y="3884431"/>
            <a:ext cx="4333310" cy="2740798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2E693C4-5106-757D-9FB9-32631A59B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172" y="273164"/>
            <a:ext cx="4627595" cy="31558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70CE2C4-E3F6-C057-2206-41D81305AE56}"/>
              </a:ext>
            </a:extLst>
          </p:cNvPr>
          <p:cNvSpPr/>
          <p:nvPr/>
        </p:nvSpPr>
        <p:spPr>
          <a:xfrm>
            <a:off x="403331" y="4987636"/>
            <a:ext cx="1354217" cy="48688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41896CF-FBFE-34FD-8E6A-65CFD59CEC3A}"/>
              </a:ext>
            </a:extLst>
          </p:cNvPr>
          <p:cNvSpPr/>
          <p:nvPr/>
        </p:nvSpPr>
        <p:spPr>
          <a:xfrm>
            <a:off x="508229" y="1945827"/>
            <a:ext cx="1354217" cy="48688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D3A08-3125-EFF3-E666-BB0C126DC91C}"/>
              </a:ext>
            </a:extLst>
          </p:cNvPr>
          <p:cNvSpPr txBox="1"/>
          <p:nvPr/>
        </p:nvSpPr>
        <p:spPr>
          <a:xfrm>
            <a:off x="656082" y="3321753"/>
            <a:ext cx="2493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Files that have changed since last commit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C5C76B-A687-1C1E-77A5-DF9DE1D5C462}"/>
              </a:ext>
            </a:extLst>
          </p:cNvPr>
          <p:cNvSpPr txBox="1"/>
          <p:nvPr/>
        </p:nvSpPr>
        <p:spPr>
          <a:xfrm>
            <a:off x="1757548" y="5070164"/>
            <a:ext cx="249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Commit message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DB359B2-98D4-7A01-3694-FA82D38EE3FE}"/>
              </a:ext>
            </a:extLst>
          </p:cNvPr>
          <p:cNvSpPr/>
          <p:nvPr/>
        </p:nvSpPr>
        <p:spPr>
          <a:xfrm>
            <a:off x="1519382" y="6207350"/>
            <a:ext cx="1354217" cy="48688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5D385B-53B4-9345-7733-A2B12F0D0DBC}"/>
              </a:ext>
            </a:extLst>
          </p:cNvPr>
          <p:cNvSpPr txBox="1"/>
          <p:nvPr/>
        </p:nvSpPr>
        <p:spPr>
          <a:xfrm>
            <a:off x="7576458" y="1165731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After commit, no changes appear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00658A-EA72-CB86-E6A6-20429DBE9B11}"/>
              </a:ext>
            </a:extLst>
          </p:cNvPr>
          <p:cNvSpPr txBox="1"/>
          <p:nvPr/>
        </p:nvSpPr>
        <p:spPr>
          <a:xfrm>
            <a:off x="9105375" y="466447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View the history of this repository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94AF93D0-7864-37F5-4D9D-F6FA6D1052A5}"/>
              </a:ext>
            </a:extLst>
          </p:cNvPr>
          <p:cNvSpPr/>
          <p:nvPr/>
        </p:nvSpPr>
        <p:spPr>
          <a:xfrm>
            <a:off x="5617029" y="3123210"/>
            <a:ext cx="1068779" cy="1175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30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C066BD3-EABC-C0BE-BB97-4FBDC190BBAF}"/>
              </a:ext>
            </a:extLst>
          </p:cNvPr>
          <p:cNvSpPr/>
          <p:nvPr/>
        </p:nvSpPr>
        <p:spPr>
          <a:xfrm>
            <a:off x="878014" y="1691354"/>
            <a:ext cx="3551482" cy="33963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86E45-A36A-FB4A-DC44-B679085C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87" y="371998"/>
            <a:ext cx="10349965" cy="740673"/>
          </a:xfrm>
        </p:spPr>
        <p:txBody>
          <a:bodyPr>
            <a:normAutofit fontScale="90000"/>
          </a:bodyPr>
          <a:lstStyle/>
          <a:p>
            <a:r>
              <a:rPr lang="en-US" dirty="0"/>
              <a:t>Step 4: Copy your local repository to your remote repository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B4547-6229-69AD-3137-579E024FE180}"/>
              </a:ext>
            </a:extLst>
          </p:cNvPr>
          <p:cNvSpPr txBox="1"/>
          <p:nvPr/>
        </p:nvSpPr>
        <p:spPr>
          <a:xfrm>
            <a:off x="1779665" y="1705829"/>
            <a:ext cx="204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computer</a:t>
            </a:r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6253A88F-0438-5E63-05ED-D62D65F7148E}"/>
              </a:ext>
            </a:extLst>
          </p:cNvPr>
          <p:cNvSpPr/>
          <p:nvPr/>
        </p:nvSpPr>
        <p:spPr>
          <a:xfrm>
            <a:off x="5635770" y="4102553"/>
            <a:ext cx="2743200" cy="76906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EF7788-A94B-AAEA-89E9-10BF31054E4C}"/>
              </a:ext>
            </a:extLst>
          </p:cNvPr>
          <p:cNvSpPr/>
          <p:nvPr/>
        </p:nvSpPr>
        <p:spPr>
          <a:xfrm>
            <a:off x="9218970" y="1691354"/>
            <a:ext cx="2303362" cy="40218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2" name="Can 21">
            <a:extLst>
              <a:ext uri="{FF2B5EF4-FFF2-40B4-BE49-F238E27FC236}">
                <a16:creationId xmlns:a16="http://schemas.microsoft.com/office/drawing/2014/main" id="{68BCCBDD-4FD7-DFD9-BFA8-B2ED7F7C8081}"/>
              </a:ext>
            </a:extLst>
          </p:cNvPr>
          <p:cNvSpPr/>
          <p:nvPr/>
        </p:nvSpPr>
        <p:spPr>
          <a:xfrm>
            <a:off x="9427314" y="2476883"/>
            <a:ext cx="1886672" cy="1135167"/>
          </a:xfrm>
          <a:prstGeom prst="can">
            <a:avLst/>
          </a:prstGeom>
          <a:solidFill>
            <a:srgbClr val="6ABD4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3250-final-project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3A5D20-FC2B-8192-5EF5-CF6A01D8FCAF}"/>
              </a:ext>
            </a:extLst>
          </p:cNvPr>
          <p:cNvSpPr txBox="1"/>
          <p:nvPr/>
        </p:nvSpPr>
        <p:spPr>
          <a:xfrm>
            <a:off x="9581726" y="1718874"/>
            <a:ext cx="1577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GitHub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8D75EA-F99C-FC57-C6CD-8FE1ED8EBB4B}"/>
              </a:ext>
            </a:extLst>
          </p:cNvPr>
          <p:cNvSpPr txBox="1"/>
          <p:nvPr/>
        </p:nvSpPr>
        <p:spPr>
          <a:xfrm>
            <a:off x="9218970" y="3994342"/>
            <a:ext cx="2303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chemeClr val="tx1"/>
                </a:solidFill>
              </a:rPr>
              <a:t>README.md</a:t>
            </a:r>
            <a:endParaRPr lang="en-US" i="1" dirty="0">
              <a:solidFill>
                <a:schemeClr val="tx1"/>
              </a:solidFill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.</a:t>
            </a:r>
            <a:r>
              <a:rPr lang="en-US" i="1" dirty="0" err="1">
                <a:solidFill>
                  <a:schemeClr val="tx1"/>
                </a:solidFill>
              </a:rPr>
              <a:t>gitignore</a:t>
            </a:r>
            <a:endParaRPr lang="en-US" i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C84727-5632-8824-E107-A198024F4D8E}"/>
              </a:ext>
            </a:extLst>
          </p:cNvPr>
          <p:cNvGrpSpPr/>
          <p:nvPr/>
        </p:nvGrpSpPr>
        <p:grpSpPr>
          <a:xfrm>
            <a:off x="1104308" y="2476883"/>
            <a:ext cx="3098893" cy="2070593"/>
            <a:chOff x="1081221" y="1634509"/>
            <a:chExt cx="3098893" cy="2070593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CCFD0EA8-0D29-4C18-957F-AA8E9B67CF8D}"/>
                </a:ext>
              </a:extLst>
            </p:cNvPr>
            <p:cNvSpPr/>
            <p:nvPr/>
          </p:nvSpPr>
          <p:spPr>
            <a:xfrm>
              <a:off x="1855490" y="2736412"/>
              <a:ext cx="2141349" cy="52376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3250-final-project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0754587-E208-BB89-D5F4-DEF8E50A2B1C}"/>
                </a:ext>
              </a:extLst>
            </p:cNvPr>
            <p:cNvSpPr/>
            <p:nvPr/>
          </p:nvSpPr>
          <p:spPr>
            <a:xfrm>
              <a:off x="1081221" y="2153138"/>
              <a:ext cx="3098893" cy="1551964"/>
            </a:xfrm>
            <a:prstGeom prst="rect">
              <a:avLst/>
            </a:prstGeom>
            <a:noFill/>
            <a:ln w="28575">
              <a:solidFill>
                <a:srgbClr val="E88B1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an 35">
              <a:extLst>
                <a:ext uri="{FF2B5EF4-FFF2-40B4-BE49-F238E27FC236}">
                  <a16:creationId xmlns:a16="http://schemas.microsoft.com/office/drawing/2014/main" id="{1C2F146E-A5F8-EE13-FFA1-98157BCF034E}"/>
                </a:ext>
              </a:extLst>
            </p:cNvPr>
            <p:cNvSpPr/>
            <p:nvPr/>
          </p:nvSpPr>
          <p:spPr>
            <a:xfrm>
              <a:off x="1256124" y="2310028"/>
              <a:ext cx="742548" cy="715670"/>
            </a:xfrm>
            <a:prstGeom prst="can">
              <a:avLst/>
            </a:prstGeom>
            <a:solidFill>
              <a:srgbClr val="E88B1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5CA1A8-127B-FE24-D866-654017D16028}"/>
                </a:ext>
              </a:extLst>
            </p:cNvPr>
            <p:cNvSpPr txBox="1"/>
            <p:nvPr/>
          </p:nvSpPr>
          <p:spPr>
            <a:xfrm>
              <a:off x="1562094" y="1634509"/>
              <a:ext cx="24347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E88B1F"/>
                  </a:solidFill>
                </a:rPr>
                <a:t>local repository</a:t>
              </a:r>
            </a:p>
          </p:txBody>
        </p:sp>
      </p:grpSp>
      <p:sp>
        <p:nvSpPr>
          <p:cNvPr id="4" name="Right Arrow 3">
            <a:extLst>
              <a:ext uri="{FF2B5EF4-FFF2-40B4-BE49-F238E27FC236}">
                <a16:creationId xmlns:a16="http://schemas.microsoft.com/office/drawing/2014/main" id="{C363578C-C303-633D-E4B2-DD84107732C8}"/>
              </a:ext>
            </a:extLst>
          </p:cNvPr>
          <p:cNvSpPr/>
          <p:nvPr/>
        </p:nvSpPr>
        <p:spPr>
          <a:xfrm>
            <a:off x="5635770" y="2038924"/>
            <a:ext cx="2743200" cy="805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72F7A-7825-6826-DB46-826CCAB9FF0C}"/>
              </a:ext>
            </a:extLst>
          </p:cNvPr>
          <p:cNvSpPr txBox="1"/>
          <p:nvPr/>
        </p:nvSpPr>
        <p:spPr>
          <a:xfrm>
            <a:off x="4977470" y="2690737"/>
            <a:ext cx="2878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Send changes from local repository to the remote repository.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AE0F3-E404-3430-C723-893E33832F79}"/>
              </a:ext>
            </a:extLst>
          </p:cNvPr>
          <p:cNvSpPr txBox="1"/>
          <p:nvPr/>
        </p:nvSpPr>
        <p:spPr>
          <a:xfrm>
            <a:off x="6234275" y="4789841"/>
            <a:ext cx="2878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Pull changes from remote repository to the local repository.</a:t>
            </a:r>
          </a:p>
        </p:txBody>
      </p:sp>
    </p:spTree>
    <p:extLst>
      <p:ext uri="{BB962C8B-B14F-4D97-AF65-F5344CB8AC3E}">
        <p14:creationId xmlns:p14="http://schemas.microsoft.com/office/powerpoint/2010/main" val="2036035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9FE5-C160-6289-8DD8-26D49230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11B182-0DCE-376A-1D96-90C550AF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419" y="1325563"/>
            <a:ext cx="6726690" cy="4629912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CAD740C9-D783-0965-E2BE-110B91760DDD}"/>
              </a:ext>
            </a:extLst>
          </p:cNvPr>
          <p:cNvSpPr/>
          <p:nvPr/>
        </p:nvSpPr>
        <p:spPr>
          <a:xfrm>
            <a:off x="3825593" y="1690688"/>
            <a:ext cx="2836464" cy="4119274"/>
          </a:xfrm>
          <a:custGeom>
            <a:avLst/>
            <a:gdLst>
              <a:gd name="connsiteX0" fmla="*/ 960955 w 2041609"/>
              <a:gd name="connsiteY0" fmla="*/ 3158836 h 3158836"/>
              <a:gd name="connsiteX1" fmla="*/ 34679 w 2041609"/>
              <a:gd name="connsiteY1" fmla="*/ 724394 h 3158836"/>
              <a:gd name="connsiteX2" fmla="*/ 2041609 w 2041609"/>
              <a:gd name="connsiteY2" fmla="*/ 0 h 3158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1609" h="3158836">
                <a:moveTo>
                  <a:pt x="960955" y="3158836"/>
                </a:moveTo>
                <a:cubicBezTo>
                  <a:pt x="407762" y="2204851"/>
                  <a:pt x="-145430" y="1250867"/>
                  <a:pt x="34679" y="724394"/>
                </a:cubicBezTo>
                <a:cubicBezTo>
                  <a:pt x="214788" y="197921"/>
                  <a:pt x="1128198" y="98960"/>
                  <a:pt x="2041609" y="0"/>
                </a:cubicBezTo>
              </a:path>
            </a:pathLst>
          </a:custGeom>
          <a:noFill/>
          <a:ln w="57150">
            <a:solidFill>
              <a:srgbClr val="EC5637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42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40DE-8017-4C0A-F04C-D26DDB57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631F47-7456-9CFC-D66A-782F4406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1106865" cy="2852737"/>
          </a:xfrm>
        </p:spPr>
        <p:txBody>
          <a:bodyPr/>
          <a:lstStyle/>
          <a:p>
            <a:r>
              <a:rPr lang="en-US" dirty="0"/>
              <a:t>Why should I use topical branches?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EC49C-2F22-7789-B8D6-992F046CD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1586203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E2F8-9766-C36B-2BC6-3673E324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EA1D-4373-F789-0C94-7E0DB3DF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39" y="367978"/>
            <a:ext cx="10515600" cy="1325563"/>
          </a:xfrm>
        </p:spPr>
        <p:txBody>
          <a:bodyPr/>
          <a:lstStyle/>
          <a:p>
            <a:r>
              <a:rPr lang="en-US" dirty="0"/>
              <a:t>Main branch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D0C94F22-3987-B25B-2515-5A004518722B}"/>
              </a:ext>
            </a:extLst>
          </p:cNvPr>
          <p:cNvSpPr/>
          <p:nvPr/>
        </p:nvSpPr>
        <p:spPr>
          <a:xfrm>
            <a:off x="1417122" y="2755075"/>
            <a:ext cx="9357756" cy="8787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C92AA-E51F-D3D5-2E16-C56CCBF201A4}"/>
              </a:ext>
            </a:extLst>
          </p:cNvPr>
          <p:cNvSpPr txBox="1"/>
          <p:nvPr/>
        </p:nvSpPr>
        <p:spPr>
          <a:xfrm>
            <a:off x="1417122" y="2925184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AE250D-7256-DB7C-DA72-C38487C0BC1D}"/>
              </a:ext>
            </a:extLst>
          </p:cNvPr>
          <p:cNvGrpSpPr/>
          <p:nvPr/>
        </p:nvGrpSpPr>
        <p:grpSpPr>
          <a:xfrm>
            <a:off x="2185878" y="2405070"/>
            <a:ext cx="900888" cy="1228780"/>
            <a:chOff x="2185878" y="1538171"/>
            <a:chExt cx="900888" cy="122878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A28070-26CC-E1D5-0C1D-F373A72D8E7F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DA2E2C-5325-3A62-6ADD-91ACE1A3EDEB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8F42D1-5E31-330B-4433-0AC1DF45D866}"/>
              </a:ext>
            </a:extLst>
          </p:cNvPr>
          <p:cNvGrpSpPr/>
          <p:nvPr/>
        </p:nvGrpSpPr>
        <p:grpSpPr>
          <a:xfrm>
            <a:off x="4434444" y="2412521"/>
            <a:ext cx="900888" cy="1228780"/>
            <a:chOff x="2185878" y="1538171"/>
            <a:chExt cx="900888" cy="12287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F2FCAB-E361-DE76-0404-232F8DDC9833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D5D5BD-A232-471B-9AC0-30FDF97A21BD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F2AEA3-904B-C33F-3A8B-6D0FD7508D9C}"/>
              </a:ext>
            </a:extLst>
          </p:cNvPr>
          <p:cNvGrpSpPr/>
          <p:nvPr/>
        </p:nvGrpSpPr>
        <p:grpSpPr>
          <a:xfrm>
            <a:off x="4905651" y="2160012"/>
            <a:ext cx="900888" cy="1481289"/>
            <a:chOff x="2185878" y="1538171"/>
            <a:chExt cx="900888" cy="148128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03B4561-6E4E-7382-C325-67069BD2A1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5559" y="1888176"/>
              <a:ext cx="20763" cy="1131284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EA9C32-0154-DB56-E312-08288C116639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1D4B1C-2670-B34C-2912-0C704B0390DE}"/>
              </a:ext>
            </a:extLst>
          </p:cNvPr>
          <p:cNvGrpSpPr/>
          <p:nvPr/>
        </p:nvGrpSpPr>
        <p:grpSpPr>
          <a:xfrm>
            <a:off x="5581317" y="2412521"/>
            <a:ext cx="900888" cy="1228780"/>
            <a:chOff x="2185878" y="1538171"/>
            <a:chExt cx="900888" cy="122878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3B9A1B0-B3D6-831A-0D4F-76E499865530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5AEA62E-758D-0F51-1664-FAFE1A97BA08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276875-A20E-C043-545B-752231F8DE3A}"/>
              </a:ext>
            </a:extLst>
          </p:cNvPr>
          <p:cNvGrpSpPr/>
          <p:nvPr/>
        </p:nvGrpSpPr>
        <p:grpSpPr>
          <a:xfrm>
            <a:off x="6728190" y="2412521"/>
            <a:ext cx="900888" cy="1228780"/>
            <a:chOff x="2185878" y="1538171"/>
            <a:chExt cx="900888" cy="122878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686AA1-6B62-8F4E-B321-64C1E1BF67C6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57B1BC4-549A-0791-FB22-885AD9795B7E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7667DA-70D9-24EC-0530-47C2E4FADCEB}"/>
              </a:ext>
            </a:extLst>
          </p:cNvPr>
          <p:cNvGrpSpPr/>
          <p:nvPr/>
        </p:nvGrpSpPr>
        <p:grpSpPr>
          <a:xfrm>
            <a:off x="8775950" y="2405070"/>
            <a:ext cx="900888" cy="1228780"/>
            <a:chOff x="2185878" y="1538171"/>
            <a:chExt cx="900888" cy="12287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809306-0F8A-E59C-8250-5C8E388E31CB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413322-2A3E-D093-AF4A-06D3C96F7B28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CEE079-6FE1-0724-7321-589D6BE373F9}"/>
              </a:ext>
            </a:extLst>
          </p:cNvPr>
          <p:cNvGrpSpPr/>
          <p:nvPr/>
        </p:nvGrpSpPr>
        <p:grpSpPr>
          <a:xfrm>
            <a:off x="1109986" y="4051933"/>
            <a:ext cx="10560488" cy="381207"/>
            <a:chOff x="1109986" y="4051933"/>
            <a:chExt cx="10560488" cy="381207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A8222E4-A56D-EC78-B2F0-A9ACDC2F3143}"/>
                </a:ext>
              </a:extLst>
            </p:cNvPr>
            <p:cNvCxnSpPr/>
            <p:nvPr/>
          </p:nvCxnSpPr>
          <p:spPr>
            <a:xfrm>
              <a:off x="1417121" y="4433140"/>
              <a:ext cx="10253353" cy="0"/>
            </a:xfrm>
            <a:prstGeom prst="straightConnector1">
              <a:avLst/>
            </a:prstGeom>
            <a:ln w="57150"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DCFB62-27F7-7B4D-D520-19D34C47A190}"/>
                </a:ext>
              </a:extLst>
            </p:cNvPr>
            <p:cNvSpPr txBox="1"/>
            <p:nvPr/>
          </p:nvSpPr>
          <p:spPr>
            <a:xfrm>
              <a:off x="1109986" y="4051933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706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4B87-985C-BC5C-C052-09294F2B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5CD1-477D-BA0E-D4E2-876844CA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39" y="367978"/>
            <a:ext cx="10515600" cy="1325563"/>
          </a:xfrm>
        </p:spPr>
        <p:txBody>
          <a:bodyPr/>
          <a:lstStyle/>
          <a:p>
            <a:r>
              <a:rPr lang="en-US" dirty="0"/>
              <a:t>Topical branches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2AC9C5-1432-D82B-9DC4-115679F172D3}"/>
              </a:ext>
            </a:extLst>
          </p:cNvPr>
          <p:cNvGrpSpPr/>
          <p:nvPr/>
        </p:nvGrpSpPr>
        <p:grpSpPr>
          <a:xfrm>
            <a:off x="2185878" y="2405070"/>
            <a:ext cx="900888" cy="1228780"/>
            <a:chOff x="2185878" y="1538171"/>
            <a:chExt cx="900888" cy="122878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FDAF4E-08C2-A6DC-D87A-A1022CD6616C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3BD036-B622-6CCC-A357-D30787FB694F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E9EB69-32AB-B9F2-0928-EAC78A66A332}"/>
              </a:ext>
            </a:extLst>
          </p:cNvPr>
          <p:cNvGrpSpPr/>
          <p:nvPr/>
        </p:nvGrpSpPr>
        <p:grpSpPr>
          <a:xfrm>
            <a:off x="6728190" y="2412521"/>
            <a:ext cx="900888" cy="1228780"/>
            <a:chOff x="2185878" y="1538171"/>
            <a:chExt cx="900888" cy="122878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5118E25-B708-FCC2-3B5E-E11FED437816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4570EBA-3B9A-E2D0-1D3E-384964DCDC0C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31CE5A-518F-0959-29FE-9A229D38AD22}"/>
              </a:ext>
            </a:extLst>
          </p:cNvPr>
          <p:cNvGrpSpPr/>
          <p:nvPr/>
        </p:nvGrpSpPr>
        <p:grpSpPr>
          <a:xfrm>
            <a:off x="8775950" y="2405070"/>
            <a:ext cx="900888" cy="1228780"/>
            <a:chOff x="2185878" y="1538171"/>
            <a:chExt cx="900888" cy="12287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269972E-D390-9813-A915-6BF017C855EC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4DDE17-783D-8F03-A2A0-C0FD10BD592C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67142D-F2C0-AB13-E52D-A61F43C40C8B}"/>
              </a:ext>
            </a:extLst>
          </p:cNvPr>
          <p:cNvCxnSpPr>
            <a:stCxn id="3" idx="3"/>
          </p:cNvCxnSpPr>
          <p:nvPr/>
        </p:nvCxnSpPr>
        <p:spPr>
          <a:xfrm>
            <a:off x="3895106" y="4251366"/>
            <a:ext cx="1735045" cy="0"/>
          </a:xfrm>
          <a:prstGeom prst="line">
            <a:avLst/>
          </a:prstGeom>
          <a:ln w="57150">
            <a:solidFill>
              <a:srgbClr val="6ABD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B2ABAA9-2169-D46E-2CC0-AA91AC6B150B}"/>
              </a:ext>
            </a:extLst>
          </p:cNvPr>
          <p:cNvGrpSpPr/>
          <p:nvPr/>
        </p:nvGrpSpPr>
        <p:grpSpPr>
          <a:xfrm>
            <a:off x="5878907" y="2405070"/>
            <a:ext cx="900888" cy="1228780"/>
            <a:chOff x="2185878" y="1538171"/>
            <a:chExt cx="900888" cy="122878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887A005-FB26-DAE7-8D2D-F470188DD912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3BE081-4BF0-2B7E-2105-1ADFF92196BC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B8CC5A9-E1D9-5629-3C02-7D4DC12408FD}"/>
              </a:ext>
            </a:extLst>
          </p:cNvPr>
          <p:cNvGrpSpPr/>
          <p:nvPr/>
        </p:nvGrpSpPr>
        <p:grpSpPr>
          <a:xfrm>
            <a:off x="3444662" y="4013859"/>
            <a:ext cx="2611706" cy="1151199"/>
            <a:chOff x="3444662" y="4013859"/>
            <a:chExt cx="2611706" cy="11511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C44E844-BE7C-B5E3-2963-1509E3299106}"/>
                </a:ext>
              </a:extLst>
            </p:cNvPr>
            <p:cNvGrpSpPr/>
            <p:nvPr/>
          </p:nvGrpSpPr>
          <p:grpSpPr>
            <a:xfrm>
              <a:off x="3444662" y="4013859"/>
              <a:ext cx="900888" cy="939348"/>
              <a:chOff x="3444662" y="4013859"/>
              <a:chExt cx="900888" cy="93934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EFCCF6-56EA-8B7B-7120-E5678DAE61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9914" y="4013859"/>
                <a:ext cx="0" cy="570016"/>
              </a:xfrm>
              <a:prstGeom prst="line">
                <a:avLst/>
              </a:prstGeom>
              <a:ln w="57150">
                <a:solidFill>
                  <a:srgbClr val="6ABD4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1249A77-5A78-1BB2-C231-BC661DFE744A}"/>
                  </a:ext>
                </a:extLst>
              </p:cNvPr>
              <p:cNvSpPr txBox="1"/>
              <p:nvPr/>
            </p:nvSpPr>
            <p:spPr>
              <a:xfrm>
                <a:off x="3444662" y="4583875"/>
                <a:ext cx="9008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commit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64E2B99-2B71-BB6F-A438-4BDBBE7D5C67}"/>
                </a:ext>
              </a:extLst>
            </p:cNvPr>
            <p:cNvGrpSpPr/>
            <p:nvPr/>
          </p:nvGrpSpPr>
          <p:grpSpPr>
            <a:xfrm>
              <a:off x="4102924" y="4013859"/>
              <a:ext cx="900888" cy="1151199"/>
              <a:chOff x="3444662" y="3802008"/>
              <a:chExt cx="900888" cy="1151199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A6B7577-7C36-7049-FF30-D3C0F5ADE2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9914" y="3802008"/>
                <a:ext cx="0" cy="781867"/>
              </a:xfrm>
              <a:prstGeom prst="line">
                <a:avLst/>
              </a:prstGeom>
              <a:ln w="57150">
                <a:solidFill>
                  <a:srgbClr val="6ABD4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B836C5F-0116-1DA1-17AB-F820C001636E}"/>
                  </a:ext>
                </a:extLst>
              </p:cNvPr>
              <p:cNvSpPr txBox="1"/>
              <p:nvPr/>
            </p:nvSpPr>
            <p:spPr>
              <a:xfrm>
                <a:off x="3444662" y="4583875"/>
                <a:ext cx="9008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commit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4B8959E-A560-F18C-59F9-C1CC5AD93954}"/>
                </a:ext>
              </a:extLst>
            </p:cNvPr>
            <p:cNvGrpSpPr/>
            <p:nvPr/>
          </p:nvGrpSpPr>
          <p:grpSpPr>
            <a:xfrm>
              <a:off x="5155480" y="4013859"/>
              <a:ext cx="900888" cy="939348"/>
              <a:chOff x="3444662" y="4013859"/>
              <a:chExt cx="900888" cy="939348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94949EA-5F2E-9F9F-E248-61BB87BC2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9914" y="4013859"/>
                <a:ext cx="0" cy="570016"/>
              </a:xfrm>
              <a:prstGeom prst="line">
                <a:avLst/>
              </a:prstGeom>
              <a:ln w="57150">
                <a:solidFill>
                  <a:srgbClr val="6ABD4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DFD57F-1288-D91D-9D25-A83E8897698B}"/>
                  </a:ext>
                </a:extLst>
              </p:cNvPr>
              <p:cNvSpPr txBox="1"/>
              <p:nvPr/>
            </p:nvSpPr>
            <p:spPr>
              <a:xfrm>
                <a:off x="3444662" y="4583875"/>
                <a:ext cx="9008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commit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2045C09-7600-A7C5-8FB7-B3FFA6C3D020}"/>
              </a:ext>
            </a:extLst>
          </p:cNvPr>
          <p:cNvGrpSpPr/>
          <p:nvPr/>
        </p:nvGrpSpPr>
        <p:grpSpPr>
          <a:xfrm>
            <a:off x="2814435" y="3396343"/>
            <a:ext cx="1194558" cy="855023"/>
            <a:chOff x="2814435" y="3396343"/>
            <a:chExt cx="1194558" cy="85502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9890A4F-9249-ED07-3EF0-56E29FBDDC00}"/>
                </a:ext>
              </a:extLst>
            </p:cNvPr>
            <p:cNvSpPr/>
            <p:nvPr/>
          </p:nvSpPr>
          <p:spPr>
            <a:xfrm>
              <a:off x="3063834" y="3396343"/>
              <a:ext cx="831272" cy="855023"/>
            </a:xfrm>
            <a:custGeom>
              <a:avLst/>
              <a:gdLst>
                <a:gd name="connsiteX0" fmla="*/ 0 w 831272"/>
                <a:gd name="connsiteY0" fmla="*/ 0 h 855023"/>
                <a:gd name="connsiteX1" fmla="*/ 320634 w 831272"/>
                <a:gd name="connsiteY1" fmla="*/ 142504 h 855023"/>
                <a:gd name="connsiteX2" fmla="*/ 486888 w 831272"/>
                <a:gd name="connsiteY2" fmla="*/ 771896 h 855023"/>
                <a:gd name="connsiteX3" fmla="*/ 831272 w 831272"/>
                <a:gd name="connsiteY3" fmla="*/ 855023 h 855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1272" h="855023">
                  <a:moveTo>
                    <a:pt x="0" y="0"/>
                  </a:moveTo>
                  <a:cubicBezTo>
                    <a:pt x="119743" y="6927"/>
                    <a:pt x="239486" y="13855"/>
                    <a:pt x="320634" y="142504"/>
                  </a:cubicBezTo>
                  <a:cubicBezTo>
                    <a:pt x="401782" y="271153"/>
                    <a:pt x="401782" y="653143"/>
                    <a:pt x="486888" y="771896"/>
                  </a:cubicBezTo>
                  <a:cubicBezTo>
                    <a:pt x="571994" y="890649"/>
                    <a:pt x="736269" y="843148"/>
                    <a:pt x="831272" y="855023"/>
                  </a:cubicBezTo>
                </a:path>
              </a:pathLst>
            </a:custGeom>
            <a:noFill/>
            <a:ln w="57150">
              <a:solidFill>
                <a:srgbClr val="6ABD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957904E-27CC-DA04-C7DF-233B4BF93206}"/>
                </a:ext>
              </a:extLst>
            </p:cNvPr>
            <p:cNvSpPr txBox="1"/>
            <p:nvPr/>
          </p:nvSpPr>
          <p:spPr>
            <a:xfrm>
              <a:off x="2814435" y="3469500"/>
              <a:ext cx="11945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solidFill>
                    <a:srgbClr val="EC5637"/>
                  </a:solidFill>
                </a:rPr>
                <a:t>branch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07185D-49C6-E995-F668-8C4066A35FA8}"/>
              </a:ext>
            </a:extLst>
          </p:cNvPr>
          <p:cNvGrpSpPr/>
          <p:nvPr/>
        </p:nvGrpSpPr>
        <p:grpSpPr>
          <a:xfrm>
            <a:off x="5527231" y="3396342"/>
            <a:ext cx="1119217" cy="855023"/>
            <a:chOff x="5527231" y="3396342"/>
            <a:chExt cx="1119217" cy="855023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1F14FD-12E2-9895-1B75-68A30779E737}"/>
                </a:ext>
              </a:extLst>
            </p:cNvPr>
            <p:cNvSpPr/>
            <p:nvPr/>
          </p:nvSpPr>
          <p:spPr>
            <a:xfrm flipH="1">
              <a:off x="5630151" y="3396342"/>
              <a:ext cx="831272" cy="855023"/>
            </a:xfrm>
            <a:custGeom>
              <a:avLst/>
              <a:gdLst>
                <a:gd name="connsiteX0" fmla="*/ 0 w 831272"/>
                <a:gd name="connsiteY0" fmla="*/ 0 h 855023"/>
                <a:gd name="connsiteX1" fmla="*/ 320634 w 831272"/>
                <a:gd name="connsiteY1" fmla="*/ 142504 h 855023"/>
                <a:gd name="connsiteX2" fmla="*/ 486888 w 831272"/>
                <a:gd name="connsiteY2" fmla="*/ 771896 h 855023"/>
                <a:gd name="connsiteX3" fmla="*/ 831272 w 831272"/>
                <a:gd name="connsiteY3" fmla="*/ 855023 h 855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1272" h="855023">
                  <a:moveTo>
                    <a:pt x="0" y="0"/>
                  </a:moveTo>
                  <a:cubicBezTo>
                    <a:pt x="119743" y="6927"/>
                    <a:pt x="239486" y="13855"/>
                    <a:pt x="320634" y="142504"/>
                  </a:cubicBezTo>
                  <a:cubicBezTo>
                    <a:pt x="401782" y="271153"/>
                    <a:pt x="401782" y="653143"/>
                    <a:pt x="486888" y="771896"/>
                  </a:cubicBezTo>
                  <a:cubicBezTo>
                    <a:pt x="571994" y="890649"/>
                    <a:pt x="736269" y="843148"/>
                    <a:pt x="831272" y="855023"/>
                  </a:cubicBezTo>
                </a:path>
              </a:pathLst>
            </a:custGeom>
            <a:noFill/>
            <a:ln w="57150">
              <a:solidFill>
                <a:srgbClr val="6ABD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CC77B94-AA7D-49B5-08E9-2B52D4CCA692}"/>
                </a:ext>
              </a:extLst>
            </p:cNvPr>
            <p:cNvSpPr txBox="1"/>
            <p:nvPr/>
          </p:nvSpPr>
          <p:spPr>
            <a:xfrm>
              <a:off x="5527231" y="3490639"/>
              <a:ext cx="11192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solidFill>
                    <a:srgbClr val="EC5637"/>
                  </a:solidFill>
                </a:rPr>
                <a:t>merge</a:t>
              </a:r>
            </a:p>
          </p:txBody>
        </p:sp>
      </p:grpSp>
      <p:sp>
        <p:nvSpPr>
          <p:cNvPr id="8" name="Right Arrow 7">
            <a:extLst>
              <a:ext uri="{FF2B5EF4-FFF2-40B4-BE49-F238E27FC236}">
                <a16:creationId xmlns:a16="http://schemas.microsoft.com/office/drawing/2014/main" id="{0ABA2446-2403-D78B-D3BF-AAC211F8CBB8}"/>
              </a:ext>
            </a:extLst>
          </p:cNvPr>
          <p:cNvSpPr/>
          <p:nvPr/>
        </p:nvSpPr>
        <p:spPr>
          <a:xfrm>
            <a:off x="1417122" y="2755075"/>
            <a:ext cx="9357755" cy="8787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0C9E5-5A51-241F-6CDA-EEECFA4074C6}"/>
              </a:ext>
            </a:extLst>
          </p:cNvPr>
          <p:cNvSpPr txBox="1"/>
          <p:nvPr/>
        </p:nvSpPr>
        <p:spPr>
          <a:xfrm>
            <a:off x="1417122" y="2925184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81525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9C663-8DED-A83B-4C76-015CD985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2DE1DB-B575-86EB-074D-C6B032FB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ensure code quality?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B06EE-679A-4F59-2B35-3BDA696D0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2128481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890660-0617-C497-27C5-AF1D20F0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 Utilities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0CAF48-8733-9D10-38EF-08B67497A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nbQA</a:t>
            </a:r>
            <a:endParaRPr lang="en-US" dirty="0"/>
          </a:p>
          <a:p>
            <a:pPr lvl="1"/>
            <a:r>
              <a:rPr lang="en-US" dirty="0"/>
              <a:t>It acts as a bridge between </a:t>
            </a:r>
            <a:r>
              <a:rPr lang="en-US" dirty="0" err="1"/>
              <a:t>Jupyter</a:t>
            </a:r>
            <a:r>
              <a:rPr lang="en-US" dirty="0"/>
              <a:t> notebooks and the Python code.</a:t>
            </a:r>
          </a:p>
          <a:p>
            <a:pPr lvl="1"/>
            <a:r>
              <a:rPr lang="en-US" dirty="0"/>
              <a:t>It allows you to run code quality tools (like </a:t>
            </a:r>
            <a:r>
              <a:rPr lang="en-US" dirty="0" err="1"/>
              <a:t>isort</a:t>
            </a:r>
            <a:r>
              <a:rPr lang="en-US" dirty="0"/>
              <a:t>, black, and flake8) designed for Python code (.</a:t>
            </a:r>
            <a:r>
              <a:rPr lang="en-US" dirty="0" err="1"/>
              <a:t>py</a:t>
            </a:r>
            <a:r>
              <a:rPr lang="en-US" dirty="0"/>
              <a:t>) in </a:t>
            </a:r>
            <a:r>
              <a:rPr lang="en-US" dirty="0" err="1"/>
              <a:t>Jupyter</a:t>
            </a:r>
            <a:r>
              <a:rPr lang="en-US" dirty="0"/>
              <a:t> Notebooks (.</a:t>
            </a:r>
            <a:r>
              <a:rPr lang="en-US" dirty="0" err="1"/>
              <a:t>ipynb</a:t>
            </a:r>
            <a:r>
              <a:rPr lang="en-US" dirty="0"/>
              <a:t>).</a:t>
            </a:r>
          </a:p>
          <a:p>
            <a:endParaRPr lang="en-US" sz="1000" dirty="0"/>
          </a:p>
          <a:p>
            <a:r>
              <a:rPr lang="en-US" dirty="0" err="1"/>
              <a:t>nbstripout</a:t>
            </a:r>
            <a:endParaRPr lang="en-US" dirty="0"/>
          </a:p>
          <a:p>
            <a:pPr lvl="1"/>
            <a:r>
              <a:rPr lang="en-US" dirty="0"/>
              <a:t>It removes output from </a:t>
            </a:r>
            <a:r>
              <a:rPr lang="en-US" dirty="0" err="1"/>
              <a:t>Jupyter</a:t>
            </a:r>
            <a:r>
              <a:rPr lang="en-US" dirty="0"/>
              <a:t> Notebook files (.</a:t>
            </a:r>
            <a:r>
              <a:rPr lang="en-US" dirty="0" err="1"/>
              <a:t>ipynb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Only the essential code and markdown content are committed to version control.</a:t>
            </a:r>
          </a:p>
          <a:p>
            <a:pPr lvl="2"/>
            <a:r>
              <a:rPr lang="en-US" dirty="0"/>
              <a:t>Keeps repositories clean and lightweight.</a:t>
            </a:r>
          </a:p>
          <a:p>
            <a:pPr lvl="2"/>
            <a:r>
              <a:rPr lang="en-US" dirty="0"/>
              <a:t>Avoids </a:t>
            </a:r>
            <a:r>
              <a:rPr lang="en-US" i="1" dirty="0">
                <a:solidFill>
                  <a:srgbClr val="EC5637"/>
                </a:solidFill>
              </a:rPr>
              <a:t>unnecessary diffs</a:t>
            </a:r>
            <a:r>
              <a:rPr lang="en-US" dirty="0"/>
              <a:t> which make it:</a:t>
            </a:r>
          </a:p>
          <a:p>
            <a:pPr lvl="3"/>
            <a:r>
              <a:rPr lang="en-US" dirty="0"/>
              <a:t>more complicated to track meaningful changes in the code </a:t>
            </a:r>
          </a:p>
          <a:p>
            <a:pPr lvl="3"/>
            <a:r>
              <a:rPr lang="en-US" dirty="0"/>
              <a:t>easier to work in multi-developer environments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96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4365-38AD-8D4A-F231-621EBF3EF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1729D-7A7A-AEFA-0C54-B2190E7B2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isort</a:t>
            </a:r>
            <a:endParaRPr lang="en-US" dirty="0"/>
          </a:p>
          <a:p>
            <a:pPr lvl="1"/>
            <a:r>
              <a:rPr lang="en-US" dirty="0"/>
              <a:t>Utility that automatically sorts and organizes your Python imports according to PEP 8 guidelines. </a:t>
            </a:r>
          </a:p>
          <a:p>
            <a:pPr lvl="1"/>
            <a:r>
              <a:rPr lang="en-US" dirty="0"/>
              <a:t>It groups imports into sections and sorts them alphabetically within each section. </a:t>
            </a:r>
          </a:p>
          <a:p>
            <a:pPr lvl="1"/>
            <a:r>
              <a:rPr lang="en-US" dirty="0"/>
              <a:t>Provides consistent import organization and help prevent merge conflicts due to import order.</a:t>
            </a:r>
          </a:p>
          <a:p>
            <a:endParaRPr lang="en-US" sz="1100" dirty="0"/>
          </a:p>
          <a:p>
            <a:r>
              <a:rPr lang="en-US" dirty="0"/>
              <a:t>Black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A code formatter that automatically formats your code according to a set of predefined rules enforcing a consistent code style.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Produces the most readable and uniform code possible without the need for extensive code reviews or discussions about style.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943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DC43-D759-FB84-56FB-EFEADA6E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Linter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7E3D-618E-3DF6-AA60-1C22D4883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Flake8</a:t>
            </a:r>
            <a:endParaRPr lang="en-US" dirty="0">
              <a:solidFill>
                <a:srgbClr val="242424"/>
              </a:solidFill>
              <a:highlight>
                <a:srgbClr val="FFFF00"/>
              </a:highlight>
              <a:latin typeface="source-serif-pro"/>
            </a:endParaRP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A popular Python code linter that checks your code for style and syntax errors.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It has a smaller set of default rules than </a:t>
            </a:r>
            <a:r>
              <a:rPr lang="en-US" dirty="0" err="1">
                <a:solidFill>
                  <a:srgbClr val="242424"/>
                </a:solidFill>
                <a:latin typeface="source-serif-pro"/>
              </a:rPr>
              <a:t>Pylint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, but it is generally faster and more lightweight and focuses on the most common and important code quality issues.</a:t>
            </a:r>
          </a:p>
          <a:p>
            <a:endParaRPr lang="en-US" sz="1000" dirty="0">
              <a:solidFill>
                <a:srgbClr val="242424"/>
              </a:solidFill>
              <a:latin typeface="source-serif-pro"/>
            </a:endParaRPr>
          </a:p>
          <a:p>
            <a:r>
              <a:rPr lang="en-US" dirty="0" err="1">
                <a:solidFill>
                  <a:srgbClr val="242424"/>
                </a:solidFill>
                <a:latin typeface="source-serif-pro"/>
              </a:rPr>
              <a:t>Pylint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It is a more robust code linter that focuses on code quality and best practices rather than just code formatting.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It has a large set of configurable rules and can be customized to fit the specific needs of a project or team.</a:t>
            </a:r>
          </a:p>
          <a:p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79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2907-2309-4949-1B6C-04A52EB8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8346-377D-2505-D748-8A9A55D6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23BF-8D47-764C-F9B4-CDBE1E51A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Bandit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An open-source security linter used to find common security issues in Python code.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It performs static analysis, which means it inspects the code without executing it, making it a safe and efficient way to identify potential vulnerabilities.</a:t>
            </a:r>
          </a:p>
          <a:p>
            <a:pPr lvl="1"/>
            <a:r>
              <a:rPr lang="en-US" dirty="0">
                <a:solidFill>
                  <a:srgbClr val="242424"/>
                </a:solidFill>
                <a:latin typeface="source-serif-pro"/>
              </a:rPr>
              <a:t>It detects:</a:t>
            </a:r>
          </a:p>
          <a:p>
            <a:pPr lvl="2"/>
            <a:r>
              <a:rPr lang="en-US" dirty="0">
                <a:solidFill>
                  <a:srgbClr val="242424"/>
                </a:solidFill>
                <a:latin typeface="source-serif-pro"/>
              </a:rPr>
              <a:t>Hardcoded sensitive data, such as passwords and API keys.</a:t>
            </a:r>
          </a:p>
          <a:p>
            <a:pPr lvl="2"/>
            <a:r>
              <a:rPr lang="en-US" dirty="0">
                <a:solidFill>
                  <a:srgbClr val="242424"/>
                </a:solidFill>
                <a:latin typeface="source-serif-pro"/>
              </a:rPr>
              <a:t>Use of insecure Python functions (e.g., eval, exec).</a:t>
            </a:r>
          </a:p>
          <a:p>
            <a:pPr lvl="2"/>
            <a:r>
              <a:rPr lang="en-US" dirty="0">
                <a:solidFill>
                  <a:srgbClr val="242424"/>
                </a:solidFill>
                <a:latin typeface="source-serif-pro"/>
              </a:rPr>
              <a:t>It helps prevent security issues early in development by highlighting them before they make it to production.</a:t>
            </a:r>
          </a:p>
          <a:p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endParaRPr lang="en-US" sz="1000" dirty="0">
              <a:solidFill>
                <a:srgbClr val="242424"/>
              </a:solidFill>
              <a:latin typeface="source-serif-pro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403FD-28BE-6588-64F4-774E2D54D32B}"/>
              </a:ext>
            </a:extLst>
          </p:cNvPr>
          <p:cNvSpPr txBox="1"/>
          <p:nvPr/>
        </p:nvSpPr>
        <p:spPr>
          <a:xfrm>
            <a:off x="6332646" y="566241"/>
            <a:ext cx="5048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EC5637"/>
                </a:solidFill>
              </a:rPr>
              <a:t>Only runs on Python scripts (.</a:t>
            </a:r>
            <a:r>
              <a:rPr lang="en-US" sz="2400" i="1" dirty="0" err="1">
                <a:solidFill>
                  <a:srgbClr val="EC5637"/>
                </a:solidFill>
              </a:rPr>
              <a:t>py</a:t>
            </a:r>
            <a:r>
              <a:rPr lang="en-US" sz="2400" i="1" dirty="0">
                <a:solidFill>
                  <a:srgbClr val="EC5637"/>
                </a:solidFill>
              </a:rPr>
              <a:t>)</a:t>
            </a:r>
          </a:p>
          <a:p>
            <a:endParaRPr lang="en-US" sz="2400" i="1" dirty="0">
              <a:solidFill>
                <a:srgbClr val="EC5637"/>
              </a:solidFill>
            </a:endParaRPr>
          </a:p>
          <a:p>
            <a:r>
              <a:rPr lang="en-US" sz="2400" i="1" dirty="0">
                <a:solidFill>
                  <a:srgbClr val="EC5637"/>
                </a:solidFill>
              </a:rPr>
              <a:t>Convert notebook to .</a:t>
            </a:r>
            <a:r>
              <a:rPr lang="en-US" sz="2400" i="1" dirty="0" err="1">
                <a:solidFill>
                  <a:srgbClr val="EC5637"/>
                </a:solidFill>
              </a:rPr>
              <a:t>py</a:t>
            </a:r>
            <a:r>
              <a:rPr lang="en-US" sz="2400" i="1" dirty="0">
                <a:solidFill>
                  <a:srgbClr val="EC5637"/>
                </a:solidFill>
              </a:rPr>
              <a:t> and run utility.</a:t>
            </a:r>
          </a:p>
        </p:txBody>
      </p:sp>
    </p:spTree>
    <p:extLst>
      <p:ext uri="{BB962C8B-B14F-4D97-AF65-F5344CB8AC3E}">
        <p14:creationId xmlns:p14="http://schemas.microsoft.com/office/powerpoint/2010/main" val="2059109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82B4-5F31-18A3-7943-0B2D7D0A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Quality Run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9C47-8FA0-A330-2F6D-9962306CB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0E101A"/>
                </a:solidFill>
                <a:effectLst/>
              </a:rPr>
              <a:t>nbstripout</a:t>
            </a:r>
            <a:r>
              <a:rPr lang="en-US" dirty="0">
                <a:solidFill>
                  <a:srgbClr val="0E101A"/>
                </a:solidFill>
              </a:rPr>
              <a:t> (removes code cell output)</a:t>
            </a:r>
            <a:endParaRPr lang="en-US" b="1" dirty="0">
              <a:solidFill>
                <a:srgbClr val="0E101A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0E101A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0E101A"/>
                </a:solidFill>
                <a:effectLst/>
              </a:rPr>
              <a:t>isort</a:t>
            </a:r>
            <a:r>
              <a:rPr lang="en-US" dirty="0">
                <a:solidFill>
                  <a:srgbClr val="0E101A"/>
                </a:solidFill>
                <a:effectLst/>
              </a:rPr>
              <a:t> (sorts imports)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0E101A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E101A"/>
                </a:solidFill>
                <a:effectLst/>
              </a:rPr>
              <a:t>Black</a:t>
            </a:r>
            <a:r>
              <a:rPr lang="en-US" dirty="0">
                <a:solidFill>
                  <a:srgbClr val="0E101A"/>
                </a:solidFill>
                <a:effectLst/>
              </a:rPr>
              <a:t> (formats code)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0E101A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E101A"/>
                </a:solidFill>
                <a:effectLst/>
                <a:highlight>
                  <a:srgbClr val="FFFF00"/>
                </a:highlight>
              </a:rPr>
              <a:t>Flake8</a:t>
            </a:r>
            <a:r>
              <a:rPr lang="en-US" dirty="0">
                <a:solidFill>
                  <a:srgbClr val="0E101A"/>
                </a:solidFill>
                <a:effectLst/>
              </a:rPr>
              <a:t> and/or </a:t>
            </a:r>
            <a:r>
              <a:rPr lang="en-US" b="1" dirty="0" err="1">
                <a:solidFill>
                  <a:srgbClr val="0E101A"/>
                </a:solidFill>
                <a:effectLst/>
              </a:rPr>
              <a:t>Pylint</a:t>
            </a:r>
            <a:r>
              <a:rPr lang="en-US" dirty="0">
                <a:solidFill>
                  <a:srgbClr val="0E101A"/>
                </a:solidFill>
                <a:effectLst/>
              </a:rPr>
              <a:t> (linting)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0E101A"/>
              </a:solidFill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strike="sngStrike" dirty="0">
                <a:solidFill>
                  <a:srgbClr val="0E101A"/>
                </a:solidFill>
                <a:effectLst/>
              </a:rPr>
              <a:t>Bandit</a:t>
            </a:r>
            <a:r>
              <a:rPr lang="en-US" strike="sngStrike" dirty="0">
                <a:solidFill>
                  <a:srgbClr val="0E101A"/>
                </a:solidFill>
                <a:effectLst/>
              </a:rPr>
              <a:t> (security checks)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21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7FEA-0703-7A1D-E440-B248F6ED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77F3F9-462F-A400-EDF7-579FEB54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needs to be in my repository?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45E53-35CF-9726-CDCC-9C63BD85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205267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3CEB-D7F6-2022-F8DB-37B1FF7B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2ADD9-CC9A-5246-2A38-F04F1B63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04F81-B81A-207B-EA8E-4AB8B4E2F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your folders and sub-folders.</a:t>
            </a:r>
          </a:p>
          <a:p>
            <a:r>
              <a:rPr lang="en-US" dirty="0"/>
              <a:t>Use plain language.</a:t>
            </a:r>
          </a:p>
          <a:p>
            <a:r>
              <a:rPr lang="en-US" dirty="0"/>
              <a:t>Use clear, precise naming.</a:t>
            </a:r>
          </a:p>
          <a:p>
            <a:r>
              <a:rPr lang="en-US" dirty="0"/>
              <a:t>DO NOT use spaces.</a:t>
            </a:r>
          </a:p>
          <a:p>
            <a:r>
              <a:rPr lang="en-US" dirty="0"/>
              <a:t>Prefix files with a number if order is important.</a:t>
            </a:r>
          </a:p>
          <a:p>
            <a:r>
              <a:rPr lang="en-US" dirty="0"/>
              <a:t>Provide plenty of instructions and context in your README files.</a:t>
            </a:r>
          </a:p>
        </p:txBody>
      </p:sp>
    </p:spTree>
    <p:extLst>
      <p:ext uri="{BB962C8B-B14F-4D97-AF65-F5344CB8AC3E}">
        <p14:creationId xmlns:p14="http://schemas.microsoft.com/office/powerpoint/2010/main" val="399352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0AD9-143F-B921-97BF-D5D10C08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dirty="0" err="1"/>
              <a:t>README.md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EE83-21E8-3362-72FE-055098EE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hlinkClick r:id="rId2"/>
              </a:rPr>
              <a:t>https://medium.datadriveninvestor.com/how-to-write-a-good-readme-for-your-data-science-project-on-github-ebb023d4a50e</a:t>
            </a:r>
          </a:p>
          <a:p>
            <a:r>
              <a:rPr lang="en-US" dirty="0">
                <a:hlinkClick r:id="rId2"/>
              </a:rPr>
              <a:t>https://www.freecodecamp.org/news/how-to-write-a-good-readme-file/</a:t>
            </a:r>
          </a:p>
          <a:p>
            <a:r>
              <a:rPr lang="en-US" dirty="0">
                <a:hlinkClick r:id="rId2"/>
              </a:rPr>
              <a:t>https://github.com/PurpleBooth/a-good-readme-template</a:t>
            </a:r>
            <a:endParaRPr lang="en-US" dirty="0"/>
          </a:p>
          <a:p>
            <a:r>
              <a:rPr lang="en-US" dirty="0">
                <a:hlinkClick r:id="rId3"/>
              </a:rPr>
              <a:t>https://github.com/KalyanM45/Data-Science-Project-Readme-Template</a:t>
            </a:r>
            <a:endParaRPr lang="en-US" dirty="0"/>
          </a:p>
          <a:p>
            <a:r>
              <a:rPr lang="en-US" dirty="0">
                <a:hlinkClick r:id="rId4"/>
              </a:rPr>
              <a:t>https://github.com/vanderbilt-data-science/repo-template-2024</a:t>
            </a:r>
            <a:endParaRPr lang="en-US" dirty="0"/>
          </a:p>
          <a:p>
            <a:r>
              <a:rPr lang="en-US" dirty="0">
                <a:hlinkClick r:id="rId5"/>
              </a:rPr>
              <a:t>https://github.com/ahgroup/data-analysis-template/tree/main</a:t>
            </a:r>
            <a:endParaRPr lang="en-US" dirty="0"/>
          </a:p>
          <a:p>
            <a:r>
              <a:rPr lang="en-US" dirty="0">
                <a:hlinkClick r:id="rId6"/>
              </a:rPr>
              <a:t>https://github.com/jamessizeland/python-analytics-template</a:t>
            </a:r>
            <a:endParaRPr lang="en-US" dirty="0"/>
          </a:p>
          <a:p>
            <a:r>
              <a:rPr lang="en-US" dirty="0">
                <a:hlinkClick r:id="rId7"/>
              </a:rPr>
              <a:t>https://github.com/mikecolbert/README-template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643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F92A-AE6C-02D0-D9EC-539ADCDE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about….?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DDD33-4685-F49A-0C46-9930F9DD44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  <a:p>
            <a:pPr lvl="1"/>
            <a:r>
              <a:rPr lang="en-US" dirty="0"/>
              <a:t>What metadata are you including?</a:t>
            </a:r>
          </a:p>
          <a:p>
            <a:pPr lvl="1"/>
            <a:r>
              <a:rPr lang="en-US" dirty="0"/>
              <a:t>Project README?</a:t>
            </a:r>
          </a:p>
          <a:p>
            <a:pPr lvl="1"/>
            <a:r>
              <a:rPr lang="en-US" dirty="0"/>
              <a:t>Data folder README?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Change log</a:t>
            </a:r>
          </a:p>
          <a:p>
            <a:pPr lvl="1"/>
            <a:r>
              <a:rPr lang="en-US" dirty="0"/>
              <a:t>What metadata are you including?</a:t>
            </a:r>
          </a:p>
          <a:p>
            <a:pPr lvl="1"/>
            <a:r>
              <a:rPr lang="en-US" dirty="0"/>
              <a:t>Project README?</a:t>
            </a:r>
          </a:p>
          <a:p>
            <a:pPr lvl="1"/>
            <a:r>
              <a:rPr lang="en-US" dirty="0" err="1"/>
              <a:t>Separare</a:t>
            </a:r>
            <a:r>
              <a:rPr lang="en-US" dirty="0"/>
              <a:t> </a:t>
            </a:r>
            <a:r>
              <a:rPr lang="en-US" dirty="0" err="1"/>
              <a:t>CHANGELOG.md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1D858-3B1C-94CE-A686-1E6577C6B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1825625"/>
            <a:ext cx="5181600" cy="4351338"/>
          </a:xfrm>
        </p:spPr>
        <p:txBody>
          <a:bodyPr/>
          <a:lstStyle/>
          <a:p>
            <a:r>
              <a:rPr lang="en-US" dirty="0"/>
              <a:t>To Do items</a:t>
            </a:r>
          </a:p>
          <a:p>
            <a:pPr lvl="1"/>
            <a:r>
              <a:rPr lang="en-US" dirty="0"/>
              <a:t>Project README?</a:t>
            </a:r>
          </a:p>
          <a:p>
            <a:pPr lvl="1"/>
            <a:r>
              <a:rPr lang="en-US" dirty="0"/>
              <a:t>Code comments?</a:t>
            </a:r>
          </a:p>
          <a:p>
            <a:pPr lvl="1"/>
            <a:r>
              <a:rPr lang="en-US" dirty="0"/>
              <a:t>GitHub Issues?</a:t>
            </a:r>
          </a:p>
          <a:p>
            <a:endParaRPr lang="en-US" dirty="0"/>
          </a:p>
          <a:p>
            <a:r>
              <a:rPr lang="en-US" dirty="0"/>
              <a:t>Sensitive info</a:t>
            </a:r>
          </a:p>
          <a:p>
            <a:pPr lvl="1"/>
            <a:r>
              <a:rPr lang="en-US" dirty="0"/>
              <a:t>API keys / Logins</a:t>
            </a:r>
          </a:p>
          <a:p>
            <a:pPr lvl="1"/>
            <a:r>
              <a:rPr lang="en-US" dirty="0"/>
              <a:t>.env file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307397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0AD064-03D8-9452-96C9-65DE2F34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 template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94184-89BD-0DAB-167F-FA95F29B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https://github.com/xtreamsrl/jupytemplate/blob/master/jupytemplate/jupytemplate/template.ipynb</a:t>
            </a:r>
            <a:endParaRPr lang="en-US" dirty="0"/>
          </a:p>
          <a:p>
            <a:r>
              <a:rPr lang="en-US" dirty="0">
                <a:hlinkClick r:id="rId3"/>
              </a:rPr>
              <a:t>https://github.com/jupyter-naas/awesome-notebooks/blob/master/Advertools/Advertools_Analyze_website_content_using_XML_sitemap.ipynb</a:t>
            </a:r>
            <a:endParaRPr lang="en-US" dirty="0"/>
          </a:p>
          <a:p>
            <a:r>
              <a:rPr lang="en-US" dirty="0">
                <a:hlinkClick r:id="rId4"/>
              </a:rPr>
              <a:t>https://gist.github.com/Jufcferrari/ebd6dd8ebb6b3257a169efb4b629d988</a:t>
            </a:r>
            <a:endParaRPr lang="en-US" dirty="0"/>
          </a:p>
          <a:p>
            <a:r>
              <a:rPr lang="en-US" dirty="0">
                <a:hlinkClick r:id="rId5"/>
              </a:rPr>
              <a:t>https://github.com/SUKHMAN-SINGH-1612/Data-Science-Projects/blob/main/Crop%20Yield%20Prediction/crop%20yield%20prediction.ipynb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97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C445-6D22-39DF-8318-5B25892C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4CE1A0-787A-9123-4521-8D42F7D3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work on a team?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1333E-5292-0C01-2B9A-AA107C27B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1253936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C34243-2D58-926E-4974-438C319C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77" y="1954085"/>
            <a:ext cx="7135245" cy="42354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4C54AF-A3C0-C30F-32D2-EF438363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1583"/>
          </a:xfrm>
        </p:spPr>
        <p:txBody>
          <a:bodyPr/>
          <a:lstStyle/>
          <a:p>
            <a:r>
              <a:rPr lang="en-US" dirty="0"/>
              <a:t>Adding collaborators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E010C-2ADE-F338-E8CF-1FF88915C6FE}"/>
              </a:ext>
            </a:extLst>
          </p:cNvPr>
          <p:cNvSpPr txBox="1"/>
          <p:nvPr/>
        </p:nvSpPr>
        <p:spPr>
          <a:xfrm>
            <a:off x="4334494" y="1361374"/>
            <a:ext cx="5607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GitHub </a:t>
            </a:r>
            <a:r>
              <a:rPr lang="en-US" dirty="0">
                <a:sym typeface="Wingdings" pitchFamily="2" charset="2"/>
              </a:rPr>
              <a:t> Settings (repository top menu)  Collaborators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C6706-F851-6E82-4CF9-75325B5D683F}"/>
              </a:ext>
            </a:extLst>
          </p:cNvPr>
          <p:cNvSpPr txBox="1"/>
          <p:nvPr/>
        </p:nvSpPr>
        <p:spPr>
          <a:xfrm>
            <a:off x="9076706" y="4448179"/>
            <a:ext cx="334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GitHub account of collaborator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728D22-DD7E-914C-1884-BF85329916C0}"/>
              </a:ext>
            </a:extLst>
          </p:cNvPr>
          <p:cNvSpPr/>
          <p:nvPr/>
        </p:nvSpPr>
        <p:spPr>
          <a:xfrm>
            <a:off x="3443844" y="3047793"/>
            <a:ext cx="1436914" cy="369332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59AE0B-63DB-9735-BD08-78E3319978BB}"/>
              </a:ext>
            </a:extLst>
          </p:cNvPr>
          <p:cNvSpPr/>
          <p:nvPr/>
        </p:nvSpPr>
        <p:spPr>
          <a:xfrm>
            <a:off x="7025837" y="5621562"/>
            <a:ext cx="1436914" cy="369332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58AFF83-0239-5324-40CB-9709011CB3C7}"/>
              </a:ext>
            </a:extLst>
          </p:cNvPr>
          <p:cNvSpPr/>
          <p:nvPr/>
        </p:nvSpPr>
        <p:spPr>
          <a:xfrm>
            <a:off x="6644555" y="2270497"/>
            <a:ext cx="987631" cy="268740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44A5B8-EC85-611D-0DEE-7E38D54017B3}"/>
              </a:ext>
            </a:extLst>
          </p:cNvPr>
          <p:cNvCxnSpPr>
            <a:cxnSpLocks/>
          </p:cNvCxnSpPr>
          <p:nvPr/>
        </p:nvCxnSpPr>
        <p:spPr>
          <a:xfrm flipH="1">
            <a:off x="4334494" y="2539237"/>
            <a:ext cx="2310061" cy="508556"/>
          </a:xfrm>
          <a:prstGeom prst="straightConnector1">
            <a:avLst/>
          </a:prstGeom>
          <a:ln w="28575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CED01F-5D5B-0BFE-1C06-A2F9F0211A3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754090" y="3429000"/>
            <a:ext cx="2271747" cy="2377228"/>
          </a:xfrm>
          <a:prstGeom prst="straightConnector1">
            <a:avLst/>
          </a:prstGeom>
          <a:ln w="28575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CF55DD-55E7-95C6-988E-AC560A365B75}"/>
              </a:ext>
            </a:extLst>
          </p:cNvPr>
          <p:cNvCxnSpPr>
            <a:cxnSpLocks/>
          </p:cNvCxnSpPr>
          <p:nvPr/>
        </p:nvCxnSpPr>
        <p:spPr>
          <a:xfrm flipH="1" flipV="1">
            <a:off x="7358743" y="4731799"/>
            <a:ext cx="420416" cy="879012"/>
          </a:xfrm>
          <a:prstGeom prst="straightConnector1">
            <a:avLst/>
          </a:prstGeom>
          <a:ln w="28575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451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A43A3B8-5663-1C07-5FAC-88D43955CE0A}"/>
              </a:ext>
            </a:extLst>
          </p:cNvPr>
          <p:cNvGrpSpPr/>
          <p:nvPr/>
        </p:nvGrpSpPr>
        <p:grpSpPr>
          <a:xfrm>
            <a:off x="5039321" y="703989"/>
            <a:ext cx="2303362" cy="2129531"/>
            <a:chOff x="5152664" y="1299469"/>
            <a:chExt cx="2303362" cy="21295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78B3A-130B-D6CD-E0D0-7768977834BA}"/>
                </a:ext>
              </a:extLst>
            </p:cNvPr>
            <p:cNvSpPr/>
            <p:nvPr/>
          </p:nvSpPr>
          <p:spPr>
            <a:xfrm>
              <a:off x="5152664" y="1299469"/>
              <a:ext cx="2303362" cy="21295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4" name="Can 3">
              <a:extLst>
                <a:ext uri="{FF2B5EF4-FFF2-40B4-BE49-F238E27FC236}">
                  <a16:creationId xmlns:a16="http://schemas.microsoft.com/office/drawing/2014/main" id="{8371CC48-D0FB-C74A-E260-7265B01217E5}"/>
                </a:ext>
              </a:extLst>
            </p:cNvPr>
            <p:cNvSpPr/>
            <p:nvPr/>
          </p:nvSpPr>
          <p:spPr>
            <a:xfrm>
              <a:off x="5361009" y="1954369"/>
              <a:ext cx="1886672" cy="1135167"/>
            </a:xfrm>
            <a:prstGeom prst="can">
              <a:avLst/>
            </a:prstGeom>
            <a:solidFill>
              <a:srgbClr val="6ABD4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3250-final-project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1A5BC7-D9FF-DC1C-B31C-5ABDF76C2C99}"/>
                </a:ext>
              </a:extLst>
            </p:cNvPr>
            <p:cNvSpPr txBox="1"/>
            <p:nvPr/>
          </p:nvSpPr>
          <p:spPr>
            <a:xfrm>
              <a:off x="5742902" y="1325780"/>
              <a:ext cx="11228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GitHub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8F3ECA6C-972E-643A-91FB-66787E7F429C}"/>
              </a:ext>
            </a:extLst>
          </p:cNvPr>
          <p:cNvSpPr/>
          <p:nvPr/>
        </p:nvSpPr>
        <p:spPr>
          <a:xfrm>
            <a:off x="247404" y="3429000"/>
            <a:ext cx="3693986" cy="25107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DE617-4E32-28B1-E489-68B4A8E87DBD}"/>
              </a:ext>
            </a:extLst>
          </p:cNvPr>
          <p:cNvSpPr txBox="1"/>
          <p:nvPr/>
        </p:nvSpPr>
        <p:spPr>
          <a:xfrm>
            <a:off x="1185234" y="3439701"/>
            <a:ext cx="2127863" cy="34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computer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6EF11D1-45B6-AD76-191D-AA41C7672011}"/>
              </a:ext>
            </a:extLst>
          </p:cNvPr>
          <p:cNvGrpSpPr/>
          <p:nvPr/>
        </p:nvGrpSpPr>
        <p:grpSpPr>
          <a:xfrm>
            <a:off x="482778" y="3890850"/>
            <a:ext cx="3223237" cy="1649543"/>
            <a:chOff x="482778" y="3890850"/>
            <a:chExt cx="3223237" cy="164954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8DEA790-9D2F-0BB7-899F-E7B2D08D2140}"/>
                </a:ext>
              </a:extLst>
            </p:cNvPr>
            <p:cNvSpPr/>
            <p:nvPr/>
          </p:nvSpPr>
          <p:spPr>
            <a:xfrm>
              <a:off x="1288115" y="4824287"/>
              <a:ext cx="2227271" cy="3871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3250-final-project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81F426-AE63-63A6-22DF-AA5F02DD8099}"/>
                </a:ext>
              </a:extLst>
            </p:cNvPr>
            <p:cNvSpPr/>
            <p:nvPr/>
          </p:nvSpPr>
          <p:spPr>
            <a:xfrm>
              <a:off x="482778" y="4393101"/>
              <a:ext cx="3223237" cy="1147292"/>
            </a:xfrm>
            <a:prstGeom prst="rect">
              <a:avLst/>
            </a:prstGeom>
            <a:noFill/>
            <a:ln w="28575">
              <a:solidFill>
                <a:srgbClr val="E88B1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an 12">
              <a:extLst>
                <a:ext uri="{FF2B5EF4-FFF2-40B4-BE49-F238E27FC236}">
                  <a16:creationId xmlns:a16="http://schemas.microsoft.com/office/drawing/2014/main" id="{6DFD1834-7377-3229-B8B7-7729EE7FD8FC}"/>
                </a:ext>
              </a:extLst>
            </p:cNvPr>
            <p:cNvSpPr/>
            <p:nvPr/>
          </p:nvSpPr>
          <p:spPr>
            <a:xfrm>
              <a:off x="664699" y="4509082"/>
              <a:ext cx="772343" cy="529060"/>
            </a:xfrm>
            <a:prstGeom prst="can">
              <a:avLst/>
            </a:prstGeom>
            <a:solidFill>
              <a:srgbClr val="E88B1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985A69-F629-7190-45C3-EC72C1EEC66B}"/>
                </a:ext>
              </a:extLst>
            </p:cNvPr>
            <p:cNvSpPr txBox="1"/>
            <p:nvPr/>
          </p:nvSpPr>
          <p:spPr>
            <a:xfrm>
              <a:off x="971091" y="3890850"/>
              <a:ext cx="2532440" cy="386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E88B1F"/>
                  </a:solidFill>
                </a:rPr>
                <a:t>local repository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174D5DE-A9BB-7FBF-B9E1-AF5CD086040B}"/>
              </a:ext>
            </a:extLst>
          </p:cNvPr>
          <p:cNvSpPr/>
          <p:nvPr/>
        </p:nvSpPr>
        <p:spPr>
          <a:xfrm>
            <a:off x="8250611" y="3485273"/>
            <a:ext cx="3693986" cy="25107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8CD4BF-E227-73BC-5932-8D64B03703A8}"/>
              </a:ext>
            </a:extLst>
          </p:cNvPr>
          <p:cNvSpPr txBox="1"/>
          <p:nvPr/>
        </p:nvSpPr>
        <p:spPr>
          <a:xfrm>
            <a:off x="8485985" y="3495974"/>
            <a:ext cx="3374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 partner’s computer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1F86DE-8A09-2FC8-EF83-E7F49F066098}"/>
              </a:ext>
            </a:extLst>
          </p:cNvPr>
          <p:cNvGrpSpPr/>
          <p:nvPr/>
        </p:nvGrpSpPr>
        <p:grpSpPr>
          <a:xfrm>
            <a:off x="8485985" y="3947123"/>
            <a:ext cx="3223237" cy="1649543"/>
            <a:chOff x="8485985" y="3947123"/>
            <a:chExt cx="3223237" cy="164954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1CB3145-1932-71C7-F193-456DDC887066}"/>
                </a:ext>
              </a:extLst>
            </p:cNvPr>
            <p:cNvSpPr/>
            <p:nvPr/>
          </p:nvSpPr>
          <p:spPr>
            <a:xfrm>
              <a:off x="9291322" y="4880560"/>
              <a:ext cx="2227271" cy="3871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3250-final-project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57E7831-2032-3B7D-5B1F-BDDF1C715CB8}"/>
                </a:ext>
              </a:extLst>
            </p:cNvPr>
            <p:cNvSpPr/>
            <p:nvPr/>
          </p:nvSpPr>
          <p:spPr>
            <a:xfrm>
              <a:off x="8485985" y="4449374"/>
              <a:ext cx="3223237" cy="1147292"/>
            </a:xfrm>
            <a:prstGeom prst="rect">
              <a:avLst/>
            </a:prstGeom>
            <a:noFill/>
            <a:ln w="28575">
              <a:solidFill>
                <a:srgbClr val="E88B1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an 21">
              <a:extLst>
                <a:ext uri="{FF2B5EF4-FFF2-40B4-BE49-F238E27FC236}">
                  <a16:creationId xmlns:a16="http://schemas.microsoft.com/office/drawing/2014/main" id="{E3774AA3-4F47-0FA8-0D8F-5604FEAD903B}"/>
                </a:ext>
              </a:extLst>
            </p:cNvPr>
            <p:cNvSpPr/>
            <p:nvPr/>
          </p:nvSpPr>
          <p:spPr>
            <a:xfrm>
              <a:off x="8667906" y="4565355"/>
              <a:ext cx="772343" cy="529060"/>
            </a:xfrm>
            <a:prstGeom prst="can">
              <a:avLst/>
            </a:prstGeom>
            <a:solidFill>
              <a:srgbClr val="E88B1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E943B0-41F5-2448-9F54-818735D63AB4}"/>
                </a:ext>
              </a:extLst>
            </p:cNvPr>
            <p:cNvSpPr txBox="1"/>
            <p:nvPr/>
          </p:nvSpPr>
          <p:spPr>
            <a:xfrm>
              <a:off x="8974298" y="3947123"/>
              <a:ext cx="2532440" cy="386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E88B1F"/>
                  </a:solidFill>
                </a:rPr>
                <a:t>local repository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37466A-BE20-CCF5-A0F0-A3FCAA1844A8}"/>
              </a:ext>
            </a:extLst>
          </p:cNvPr>
          <p:cNvGrpSpPr/>
          <p:nvPr/>
        </p:nvGrpSpPr>
        <p:grpSpPr>
          <a:xfrm>
            <a:off x="604484" y="391886"/>
            <a:ext cx="4226492" cy="2890212"/>
            <a:chOff x="604484" y="391886"/>
            <a:chExt cx="4226492" cy="2890212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D350AA7-AD2B-BB8F-23FB-AF03BF037D58}"/>
                </a:ext>
              </a:extLst>
            </p:cNvPr>
            <p:cNvSpPr/>
            <p:nvPr/>
          </p:nvSpPr>
          <p:spPr>
            <a:xfrm>
              <a:off x="604484" y="784811"/>
              <a:ext cx="4226492" cy="2497287"/>
            </a:xfrm>
            <a:custGeom>
              <a:avLst/>
              <a:gdLst>
                <a:gd name="connsiteX0" fmla="*/ 3598224 w 3598224"/>
                <a:gd name="connsiteY0" fmla="*/ 62846 h 2497287"/>
                <a:gd name="connsiteX1" fmla="*/ 1306286 w 3598224"/>
                <a:gd name="connsiteY1" fmla="*/ 312227 h 2497287"/>
                <a:gd name="connsiteX2" fmla="*/ 0 w 3598224"/>
                <a:gd name="connsiteY2" fmla="*/ 2497287 h 249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8224" h="2497287">
                  <a:moveTo>
                    <a:pt x="3598224" y="62846"/>
                  </a:moveTo>
                  <a:cubicBezTo>
                    <a:pt x="2752107" y="-15334"/>
                    <a:pt x="1905990" y="-93513"/>
                    <a:pt x="1306286" y="312227"/>
                  </a:cubicBezTo>
                  <a:cubicBezTo>
                    <a:pt x="706582" y="717967"/>
                    <a:pt x="353291" y="1607627"/>
                    <a:pt x="0" y="2497287"/>
                  </a:cubicBezTo>
                </a:path>
              </a:pathLst>
            </a:custGeom>
            <a:noFill/>
            <a:ln w="38100">
              <a:solidFill>
                <a:srgbClr val="E88B1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11C84E-BA32-8A81-FD6B-C6EE9753A611}"/>
                </a:ext>
              </a:extLst>
            </p:cNvPr>
            <p:cNvSpPr txBox="1"/>
            <p:nvPr/>
          </p:nvSpPr>
          <p:spPr>
            <a:xfrm>
              <a:off x="2401750" y="391886"/>
              <a:ext cx="189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88B1F"/>
                  </a:solidFill>
                </a:rPr>
                <a:t>1. clone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8C9ABAF-E418-2EF5-CA31-02BEA866A939}"/>
              </a:ext>
            </a:extLst>
          </p:cNvPr>
          <p:cNvGrpSpPr/>
          <p:nvPr/>
        </p:nvGrpSpPr>
        <p:grpSpPr>
          <a:xfrm>
            <a:off x="7632184" y="411787"/>
            <a:ext cx="3598224" cy="2924609"/>
            <a:chOff x="7632184" y="411787"/>
            <a:chExt cx="3598224" cy="292460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5E35495-56CF-EA8B-D613-E5CC749EAA98}"/>
                </a:ext>
              </a:extLst>
            </p:cNvPr>
            <p:cNvSpPr/>
            <p:nvPr/>
          </p:nvSpPr>
          <p:spPr>
            <a:xfrm flipH="1">
              <a:off x="7632184" y="839109"/>
              <a:ext cx="3598224" cy="2497287"/>
            </a:xfrm>
            <a:custGeom>
              <a:avLst/>
              <a:gdLst>
                <a:gd name="connsiteX0" fmla="*/ 3598224 w 3598224"/>
                <a:gd name="connsiteY0" fmla="*/ 62846 h 2497287"/>
                <a:gd name="connsiteX1" fmla="*/ 1306286 w 3598224"/>
                <a:gd name="connsiteY1" fmla="*/ 312227 h 2497287"/>
                <a:gd name="connsiteX2" fmla="*/ 0 w 3598224"/>
                <a:gd name="connsiteY2" fmla="*/ 2497287 h 249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8224" h="2497287">
                  <a:moveTo>
                    <a:pt x="3598224" y="62846"/>
                  </a:moveTo>
                  <a:cubicBezTo>
                    <a:pt x="2752107" y="-15334"/>
                    <a:pt x="1905990" y="-93513"/>
                    <a:pt x="1306286" y="312227"/>
                  </a:cubicBezTo>
                  <a:cubicBezTo>
                    <a:pt x="706582" y="717967"/>
                    <a:pt x="353291" y="1607627"/>
                    <a:pt x="0" y="2497287"/>
                  </a:cubicBezTo>
                </a:path>
              </a:pathLst>
            </a:custGeom>
            <a:noFill/>
            <a:ln w="38100">
              <a:solidFill>
                <a:srgbClr val="E88B1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22AFC2-B2B0-592D-DD44-767F7622E5D7}"/>
                </a:ext>
              </a:extLst>
            </p:cNvPr>
            <p:cNvSpPr txBox="1"/>
            <p:nvPr/>
          </p:nvSpPr>
          <p:spPr>
            <a:xfrm>
              <a:off x="9291959" y="411787"/>
              <a:ext cx="189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88B1F"/>
                  </a:solidFill>
                </a:rPr>
                <a:t>1. clone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38C2B56-155F-DB15-B149-00E079359D52}"/>
              </a:ext>
            </a:extLst>
          </p:cNvPr>
          <p:cNvGrpSpPr/>
          <p:nvPr/>
        </p:nvGrpSpPr>
        <p:grpSpPr>
          <a:xfrm>
            <a:off x="2042555" y="1472539"/>
            <a:ext cx="2755272" cy="1781299"/>
            <a:chOff x="2042555" y="1472539"/>
            <a:chExt cx="2755272" cy="178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6991DF6-DE3E-9FE9-AC63-213E76A2BF62}"/>
                </a:ext>
              </a:extLst>
            </p:cNvPr>
            <p:cNvSpPr/>
            <p:nvPr/>
          </p:nvSpPr>
          <p:spPr>
            <a:xfrm>
              <a:off x="2042555" y="1472539"/>
              <a:ext cx="2588821" cy="1781299"/>
            </a:xfrm>
            <a:custGeom>
              <a:avLst/>
              <a:gdLst>
                <a:gd name="connsiteX0" fmla="*/ 0 w 2636322"/>
                <a:gd name="connsiteY0" fmla="*/ 1822924 h 1822924"/>
                <a:gd name="connsiteX1" fmla="*/ 676893 w 2636322"/>
                <a:gd name="connsiteY1" fmla="*/ 196004 h 1822924"/>
                <a:gd name="connsiteX2" fmla="*/ 2636322 w 2636322"/>
                <a:gd name="connsiteY2" fmla="*/ 89127 h 182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6322" h="1822924">
                  <a:moveTo>
                    <a:pt x="0" y="1822924"/>
                  </a:moveTo>
                  <a:cubicBezTo>
                    <a:pt x="118753" y="1153947"/>
                    <a:pt x="237506" y="484970"/>
                    <a:pt x="676893" y="196004"/>
                  </a:cubicBezTo>
                  <a:cubicBezTo>
                    <a:pt x="1116280" y="-92962"/>
                    <a:pt x="1876301" y="-1918"/>
                    <a:pt x="2636322" y="89127"/>
                  </a:cubicBezTo>
                </a:path>
              </a:pathLst>
            </a:custGeom>
            <a:noFill/>
            <a:ln w="38100">
              <a:solidFill>
                <a:srgbClr val="5172B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77B7452-1DC4-E81A-7583-E04D0C8A14E9}"/>
                </a:ext>
              </a:extLst>
            </p:cNvPr>
            <p:cNvSpPr txBox="1"/>
            <p:nvPr/>
          </p:nvSpPr>
          <p:spPr>
            <a:xfrm>
              <a:off x="2900709" y="1567298"/>
              <a:ext cx="189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2. push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63338A-7A8E-7D52-A285-932F40F308AB}"/>
              </a:ext>
            </a:extLst>
          </p:cNvPr>
          <p:cNvGrpSpPr/>
          <p:nvPr/>
        </p:nvGrpSpPr>
        <p:grpSpPr>
          <a:xfrm>
            <a:off x="8177356" y="1059724"/>
            <a:ext cx="1781299" cy="2588821"/>
            <a:chOff x="8177356" y="1059724"/>
            <a:chExt cx="1781299" cy="2588821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A61384D-518C-FD23-0655-E97466960A93}"/>
                </a:ext>
              </a:extLst>
            </p:cNvPr>
            <p:cNvSpPr/>
            <p:nvPr/>
          </p:nvSpPr>
          <p:spPr>
            <a:xfrm rot="4423380">
              <a:off x="7773595" y="1463485"/>
              <a:ext cx="2588821" cy="1781299"/>
            </a:xfrm>
            <a:custGeom>
              <a:avLst/>
              <a:gdLst>
                <a:gd name="connsiteX0" fmla="*/ 0 w 2636322"/>
                <a:gd name="connsiteY0" fmla="*/ 1822924 h 1822924"/>
                <a:gd name="connsiteX1" fmla="*/ 676893 w 2636322"/>
                <a:gd name="connsiteY1" fmla="*/ 196004 h 1822924"/>
                <a:gd name="connsiteX2" fmla="*/ 2636322 w 2636322"/>
                <a:gd name="connsiteY2" fmla="*/ 89127 h 182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6322" h="1822924">
                  <a:moveTo>
                    <a:pt x="0" y="1822924"/>
                  </a:moveTo>
                  <a:cubicBezTo>
                    <a:pt x="118753" y="1153947"/>
                    <a:pt x="237506" y="484970"/>
                    <a:pt x="676893" y="196004"/>
                  </a:cubicBezTo>
                  <a:cubicBezTo>
                    <a:pt x="1116280" y="-92962"/>
                    <a:pt x="1876301" y="-1918"/>
                    <a:pt x="2636322" y="89127"/>
                  </a:cubicBezTo>
                </a:path>
              </a:pathLst>
            </a:custGeom>
            <a:noFill/>
            <a:ln w="38100">
              <a:solidFill>
                <a:srgbClr val="5172B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E77E98A-226E-723F-0939-14B0AE17C33B}"/>
                </a:ext>
              </a:extLst>
            </p:cNvPr>
            <p:cNvSpPr txBox="1"/>
            <p:nvPr/>
          </p:nvSpPr>
          <p:spPr>
            <a:xfrm>
              <a:off x="8339554" y="1404936"/>
              <a:ext cx="932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 pull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8605FEE-45FD-EBE2-A1AF-99C17A502F35}"/>
              </a:ext>
            </a:extLst>
          </p:cNvPr>
          <p:cNvSpPr txBox="1"/>
          <p:nvPr/>
        </p:nvSpPr>
        <p:spPr>
          <a:xfrm>
            <a:off x="4371455" y="3261570"/>
            <a:ext cx="34326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Always </a:t>
            </a:r>
            <a:r>
              <a:rPr lang="en-US" b="1" i="1" dirty="0"/>
              <a:t>start your work session </a:t>
            </a:r>
            <a:r>
              <a:rPr lang="en-US" i="1" dirty="0"/>
              <a:t>with a </a:t>
            </a:r>
            <a:r>
              <a:rPr lang="en-US" b="1" i="1" dirty="0"/>
              <a:t>pull</a:t>
            </a:r>
            <a:r>
              <a:rPr lang="en-US" i="1" dirty="0"/>
              <a:t> to get the latest changes from the remote repository.</a:t>
            </a:r>
          </a:p>
          <a:p>
            <a:endParaRPr lang="en-US" i="1" dirty="0"/>
          </a:p>
          <a:p>
            <a:r>
              <a:rPr lang="en-US" i="1" dirty="0"/>
              <a:t>Always </a:t>
            </a:r>
            <a:r>
              <a:rPr lang="en-US" b="1" i="1" dirty="0"/>
              <a:t>end your work session </a:t>
            </a:r>
            <a:r>
              <a:rPr lang="en-US" i="1" dirty="0"/>
              <a:t>with a </a:t>
            </a:r>
            <a:r>
              <a:rPr lang="en-US" b="1" i="1" dirty="0"/>
              <a:t>push</a:t>
            </a:r>
            <a:r>
              <a:rPr lang="en-US" i="1" dirty="0"/>
              <a:t> so the latest updates are on the remote repository.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63E509-2CD3-E1F3-CB8F-800D9C09A87F}"/>
              </a:ext>
            </a:extLst>
          </p:cNvPr>
          <p:cNvGrpSpPr/>
          <p:nvPr/>
        </p:nvGrpSpPr>
        <p:grpSpPr>
          <a:xfrm>
            <a:off x="7488887" y="2187150"/>
            <a:ext cx="2040415" cy="1137671"/>
            <a:chOff x="7488887" y="2187150"/>
            <a:chExt cx="2040415" cy="113767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FF236A8-0AD2-5449-BF74-A3F967069495}"/>
                </a:ext>
              </a:extLst>
            </p:cNvPr>
            <p:cNvSpPr/>
            <p:nvPr/>
          </p:nvSpPr>
          <p:spPr>
            <a:xfrm rot="301001" flipH="1">
              <a:off x="7488887" y="2187150"/>
              <a:ext cx="1366430" cy="1137671"/>
            </a:xfrm>
            <a:custGeom>
              <a:avLst/>
              <a:gdLst>
                <a:gd name="connsiteX0" fmla="*/ 0 w 2636322"/>
                <a:gd name="connsiteY0" fmla="*/ 1822924 h 1822924"/>
                <a:gd name="connsiteX1" fmla="*/ 676893 w 2636322"/>
                <a:gd name="connsiteY1" fmla="*/ 196004 h 1822924"/>
                <a:gd name="connsiteX2" fmla="*/ 2636322 w 2636322"/>
                <a:gd name="connsiteY2" fmla="*/ 89127 h 182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6322" h="1822924">
                  <a:moveTo>
                    <a:pt x="0" y="1822924"/>
                  </a:moveTo>
                  <a:cubicBezTo>
                    <a:pt x="118753" y="1153947"/>
                    <a:pt x="237506" y="484970"/>
                    <a:pt x="676893" y="196004"/>
                  </a:cubicBezTo>
                  <a:cubicBezTo>
                    <a:pt x="1116280" y="-92962"/>
                    <a:pt x="1876301" y="-1918"/>
                    <a:pt x="2636322" y="89127"/>
                  </a:cubicBezTo>
                </a:path>
              </a:pathLst>
            </a:custGeom>
            <a:noFill/>
            <a:ln w="38100">
              <a:solidFill>
                <a:srgbClr val="5172B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4AF7625-DBC8-D1C7-A50F-D6CC269584DC}"/>
                </a:ext>
              </a:extLst>
            </p:cNvPr>
            <p:cNvSpPr txBox="1"/>
            <p:nvPr/>
          </p:nvSpPr>
          <p:spPr>
            <a:xfrm>
              <a:off x="7632184" y="2309029"/>
              <a:ext cx="189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4. push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1E2C35-F56B-9D3A-0DFD-07FC827CE2C4}"/>
              </a:ext>
            </a:extLst>
          </p:cNvPr>
          <p:cNvGrpSpPr/>
          <p:nvPr/>
        </p:nvGrpSpPr>
        <p:grpSpPr>
          <a:xfrm>
            <a:off x="3382913" y="2064512"/>
            <a:ext cx="1235071" cy="1366430"/>
            <a:chOff x="3382913" y="2064512"/>
            <a:chExt cx="1235071" cy="1366430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355AF7A-7060-8B39-C364-556FE792F9E6}"/>
                </a:ext>
              </a:extLst>
            </p:cNvPr>
            <p:cNvSpPr/>
            <p:nvPr/>
          </p:nvSpPr>
          <p:spPr>
            <a:xfrm rot="16946727" flipH="1">
              <a:off x="3268534" y="2178891"/>
              <a:ext cx="1366430" cy="1137671"/>
            </a:xfrm>
            <a:custGeom>
              <a:avLst/>
              <a:gdLst>
                <a:gd name="connsiteX0" fmla="*/ 0 w 2636322"/>
                <a:gd name="connsiteY0" fmla="*/ 1822924 h 1822924"/>
                <a:gd name="connsiteX1" fmla="*/ 676893 w 2636322"/>
                <a:gd name="connsiteY1" fmla="*/ 196004 h 1822924"/>
                <a:gd name="connsiteX2" fmla="*/ 2636322 w 2636322"/>
                <a:gd name="connsiteY2" fmla="*/ 89127 h 182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6322" h="1822924">
                  <a:moveTo>
                    <a:pt x="0" y="1822924"/>
                  </a:moveTo>
                  <a:cubicBezTo>
                    <a:pt x="118753" y="1153947"/>
                    <a:pt x="237506" y="484970"/>
                    <a:pt x="676893" y="196004"/>
                  </a:cubicBezTo>
                  <a:cubicBezTo>
                    <a:pt x="1116280" y="-92962"/>
                    <a:pt x="1876301" y="-1918"/>
                    <a:pt x="2636322" y="89127"/>
                  </a:cubicBezTo>
                </a:path>
              </a:pathLst>
            </a:custGeom>
            <a:noFill/>
            <a:ln w="38100">
              <a:solidFill>
                <a:srgbClr val="5172B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5BB6D5-5D63-E7DF-FBAC-8076CA2966F4}"/>
                </a:ext>
              </a:extLst>
            </p:cNvPr>
            <p:cNvSpPr txBox="1"/>
            <p:nvPr/>
          </p:nvSpPr>
          <p:spPr>
            <a:xfrm>
              <a:off x="3685866" y="2309027"/>
              <a:ext cx="932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 pull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535259-A98E-3971-9554-0D36BE955301}"/>
              </a:ext>
            </a:extLst>
          </p:cNvPr>
          <p:cNvGrpSpPr/>
          <p:nvPr/>
        </p:nvGrpSpPr>
        <p:grpSpPr>
          <a:xfrm>
            <a:off x="8805613" y="2141432"/>
            <a:ext cx="1251365" cy="1332408"/>
            <a:chOff x="8805613" y="2141432"/>
            <a:chExt cx="1251365" cy="1332408"/>
          </a:xfrm>
        </p:grpSpPr>
        <p:sp>
          <p:nvSpPr>
            <p:cNvPr id="37" name="Explosion 1 36">
              <a:extLst>
                <a:ext uri="{FF2B5EF4-FFF2-40B4-BE49-F238E27FC236}">
                  <a16:creationId xmlns:a16="http://schemas.microsoft.com/office/drawing/2014/main" id="{B5BF7886-DBD0-ACF8-F78A-A0BD0BE21441}"/>
                </a:ext>
              </a:extLst>
            </p:cNvPr>
            <p:cNvSpPr/>
            <p:nvPr/>
          </p:nvSpPr>
          <p:spPr>
            <a:xfrm>
              <a:off x="8805613" y="2637939"/>
              <a:ext cx="1251365" cy="835901"/>
            </a:xfrm>
            <a:prstGeom prst="irregularSeal1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44EEFD4-CC1F-8DB7-24E6-15D1A740728A}"/>
                </a:ext>
              </a:extLst>
            </p:cNvPr>
            <p:cNvSpPr txBox="1"/>
            <p:nvPr/>
          </p:nvSpPr>
          <p:spPr>
            <a:xfrm>
              <a:off x="8948609" y="2141432"/>
              <a:ext cx="1055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EC5637"/>
                  </a:solidFill>
                </a:rPr>
                <a:t>local commits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BF4EBF7-93FF-A796-99A1-8260884BC298}"/>
              </a:ext>
            </a:extLst>
          </p:cNvPr>
          <p:cNvGrpSpPr/>
          <p:nvPr/>
        </p:nvGrpSpPr>
        <p:grpSpPr>
          <a:xfrm>
            <a:off x="826662" y="2187189"/>
            <a:ext cx="1302186" cy="1371981"/>
            <a:chOff x="826662" y="2187189"/>
            <a:chExt cx="1302186" cy="1371981"/>
          </a:xfrm>
        </p:grpSpPr>
        <p:sp>
          <p:nvSpPr>
            <p:cNvPr id="36" name="Explosion 1 35">
              <a:extLst>
                <a:ext uri="{FF2B5EF4-FFF2-40B4-BE49-F238E27FC236}">
                  <a16:creationId xmlns:a16="http://schemas.microsoft.com/office/drawing/2014/main" id="{40AF8B52-D8E9-B6A6-0A05-AA5CC098BCF4}"/>
                </a:ext>
              </a:extLst>
            </p:cNvPr>
            <p:cNvSpPr/>
            <p:nvPr/>
          </p:nvSpPr>
          <p:spPr>
            <a:xfrm>
              <a:off x="826662" y="2723269"/>
              <a:ext cx="1251365" cy="835901"/>
            </a:xfrm>
            <a:prstGeom prst="irregularSeal1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7946F3A-5DDB-F286-219C-6746B879E24B}"/>
                </a:ext>
              </a:extLst>
            </p:cNvPr>
            <p:cNvSpPr txBox="1"/>
            <p:nvPr/>
          </p:nvSpPr>
          <p:spPr>
            <a:xfrm>
              <a:off x="1073391" y="2187189"/>
              <a:ext cx="10554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EC5637"/>
                  </a:solidFill>
                </a:rPr>
                <a:t>local commits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70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9855-8DC8-3D66-D421-A43704B8A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996"/>
            <a:ext cx="10515600" cy="763031"/>
          </a:xfrm>
        </p:spPr>
        <p:txBody>
          <a:bodyPr/>
          <a:lstStyle/>
          <a:p>
            <a:r>
              <a:rPr lang="en-US" dirty="0"/>
              <a:t>Creating new issues</a:t>
            </a:r>
          </a:p>
        </p:txBody>
      </p:sp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D503F04B-0A4C-6D4F-141F-8E387147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3" y="1642785"/>
            <a:ext cx="6602681" cy="287164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6D2B9CC-F97F-A786-596F-A33F2A051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574" y="4183894"/>
            <a:ext cx="4488047" cy="23448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EC657D-8666-C5EF-5D23-9D8BC7C265BE}"/>
              </a:ext>
            </a:extLst>
          </p:cNvPr>
          <p:cNvSpPr txBox="1"/>
          <p:nvPr/>
        </p:nvSpPr>
        <p:spPr>
          <a:xfrm>
            <a:off x="869003" y="1273453"/>
            <a:ext cx="514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GitHub repository </a:t>
            </a:r>
            <a:r>
              <a:rPr lang="en-US" dirty="0">
                <a:sym typeface="Wingdings" pitchFamily="2" charset="2"/>
              </a:rPr>
              <a:t> Issues</a:t>
            </a:r>
            <a:r>
              <a:rPr lang="en-US" i="1" dirty="0">
                <a:sym typeface="Wingdings" pitchFamily="2" charset="2"/>
              </a:rPr>
              <a:t> (top menu)</a:t>
            </a:r>
            <a:r>
              <a:rPr lang="en-US" dirty="0">
                <a:sym typeface="Wingdings" pitchFamily="2" charset="2"/>
              </a:rPr>
              <a:t>  New issue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9571DF-CFE0-2D83-0B6C-CE4B506986D2}"/>
              </a:ext>
            </a:extLst>
          </p:cNvPr>
          <p:cNvSpPr/>
          <p:nvPr/>
        </p:nvSpPr>
        <p:spPr>
          <a:xfrm>
            <a:off x="403761" y="1642785"/>
            <a:ext cx="1448790" cy="53039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B303F1-4973-C6A4-56FD-48D466A97B47}"/>
              </a:ext>
            </a:extLst>
          </p:cNvPr>
          <p:cNvSpPr/>
          <p:nvPr/>
        </p:nvSpPr>
        <p:spPr>
          <a:xfrm>
            <a:off x="556161" y="2576162"/>
            <a:ext cx="1448790" cy="53039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A04F12-BC29-A806-D501-F7F8C212504D}"/>
              </a:ext>
            </a:extLst>
          </p:cNvPr>
          <p:cNvSpPr/>
          <p:nvPr/>
        </p:nvSpPr>
        <p:spPr>
          <a:xfrm>
            <a:off x="4845132" y="2070343"/>
            <a:ext cx="1900052" cy="1468504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43A53C-EE34-1145-8F81-B3F082610EA7}"/>
              </a:ext>
            </a:extLst>
          </p:cNvPr>
          <p:cNvCxnSpPr/>
          <p:nvPr/>
        </p:nvCxnSpPr>
        <p:spPr>
          <a:xfrm>
            <a:off x="3621974" y="4061362"/>
            <a:ext cx="653143" cy="0"/>
          </a:xfrm>
          <a:prstGeom prst="straightConnector1">
            <a:avLst/>
          </a:prstGeom>
          <a:ln w="28575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>
            <a:extLst>
              <a:ext uri="{FF2B5EF4-FFF2-40B4-BE49-F238E27FC236}">
                <a16:creationId xmlns:a16="http://schemas.microsoft.com/office/drawing/2014/main" id="{AED98E0C-D6C1-35D6-53E8-0B9BDC6E7B20}"/>
              </a:ext>
            </a:extLst>
          </p:cNvPr>
          <p:cNvSpPr/>
          <p:nvPr/>
        </p:nvSpPr>
        <p:spPr>
          <a:xfrm>
            <a:off x="4230623" y="4263242"/>
            <a:ext cx="2704567" cy="1391562"/>
          </a:xfrm>
          <a:custGeom>
            <a:avLst/>
            <a:gdLst>
              <a:gd name="connsiteX0" fmla="*/ 341377 w 2704567"/>
              <a:gd name="connsiteY0" fmla="*/ 0 h 1391562"/>
              <a:gd name="connsiteX1" fmla="*/ 198873 w 2704567"/>
              <a:gd name="connsiteY1" fmla="*/ 1341911 h 1391562"/>
              <a:gd name="connsiteX2" fmla="*/ 2704567 w 2704567"/>
              <a:gd name="connsiteY2" fmla="*/ 973776 h 1391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4567" h="1391562">
                <a:moveTo>
                  <a:pt x="341377" y="0"/>
                </a:moveTo>
                <a:cubicBezTo>
                  <a:pt x="73192" y="589807"/>
                  <a:pt x="-194992" y="1179615"/>
                  <a:pt x="198873" y="1341911"/>
                </a:cubicBezTo>
                <a:cubicBezTo>
                  <a:pt x="592738" y="1504207"/>
                  <a:pt x="1648652" y="1238991"/>
                  <a:pt x="2704567" y="973776"/>
                </a:cubicBezTo>
              </a:path>
            </a:pathLst>
          </a:custGeom>
          <a:noFill/>
          <a:ln w="28575">
            <a:solidFill>
              <a:srgbClr val="EC5637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0F1A978-F266-F5DB-DB1E-2267A72A491C}"/>
              </a:ext>
            </a:extLst>
          </p:cNvPr>
          <p:cNvSpPr/>
          <p:nvPr/>
        </p:nvSpPr>
        <p:spPr>
          <a:xfrm>
            <a:off x="7194467" y="4183895"/>
            <a:ext cx="809501" cy="330531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21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B716C-3ECF-B739-93F5-BB7644F9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15" y="336943"/>
            <a:ext cx="10515600" cy="810532"/>
          </a:xfrm>
        </p:spPr>
        <p:txBody>
          <a:bodyPr/>
          <a:lstStyle/>
          <a:p>
            <a:r>
              <a:rPr lang="en-US" dirty="0"/>
              <a:t>Resolving issues – assign yourself an issue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F314D3A-ACC1-94B5-DE43-9D4C75F8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15" y="1242950"/>
            <a:ext cx="8119809" cy="399406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C15A66-4A9B-6A1D-2016-4CAB851C6804}"/>
              </a:ext>
            </a:extLst>
          </p:cNvPr>
          <p:cNvSpPr/>
          <p:nvPr/>
        </p:nvSpPr>
        <p:spPr>
          <a:xfrm>
            <a:off x="6096000" y="2137559"/>
            <a:ext cx="1638795" cy="43344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5B47A9-DF0D-A73C-F9D9-89861E378EE1}"/>
              </a:ext>
            </a:extLst>
          </p:cNvPr>
          <p:cNvSpPr/>
          <p:nvPr/>
        </p:nvSpPr>
        <p:spPr>
          <a:xfrm>
            <a:off x="6096000" y="4150426"/>
            <a:ext cx="1638795" cy="43344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BD255EFA-B1AA-188F-B810-85A64EFF3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318" y="3239984"/>
            <a:ext cx="3456475" cy="3425124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849AE3-F0D6-000C-9D62-9C96D6D9B597}"/>
              </a:ext>
            </a:extLst>
          </p:cNvPr>
          <p:cNvSpPr/>
          <p:nvPr/>
        </p:nvSpPr>
        <p:spPr>
          <a:xfrm>
            <a:off x="8522318" y="5537860"/>
            <a:ext cx="1638795" cy="43344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0C7FB3B-4A3D-B542-61E3-BA41150B4FA7}"/>
              </a:ext>
            </a:extLst>
          </p:cNvPr>
          <p:cNvSpPr/>
          <p:nvPr/>
        </p:nvSpPr>
        <p:spPr>
          <a:xfrm>
            <a:off x="10770919" y="6207909"/>
            <a:ext cx="1207874" cy="433449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88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CBD69-C84F-4527-EEBE-22D558F5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814AF-940B-C48E-012D-45199BDF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I use branches on a team?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79E38-D635-350A-D252-7982A2880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93875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0939-9787-CBB9-3686-96568FFA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39" y="367978"/>
            <a:ext cx="10515600" cy="1325563"/>
          </a:xfrm>
        </p:spPr>
        <p:txBody>
          <a:bodyPr/>
          <a:lstStyle/>
          <a:p>
            <a:r>
              <a:rPr lang="en-US" dirty="0"/>
              <a:t>Main branch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35BBFA4-141B-28B3-8DC7-EF9FB1346896}"/>
              </a:ext>
            </a:extLst>
          </p:cNvPr>
          <p:cNvSpPr/>
          <p:nvPr/>
        </p:nvSpPr>
        <p:spPr>
          <a:xfrm>
            <a:off x="1417122" y="2755075"/>
            <a:ext cx="9357756" cy="8787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69F88-B638-FC1B-D6D9-9FEB8DE193CE}"/>
              </a:ext>
            </a:extLst>
          </p:cNvPr>
          <p:cNvSpPr txBox="1"/>
          <p:nvPr/>
        </p:nvSpPr>
        <p:spPr>
          <a:xfrm>
            <a:off x="1417122" y="2925184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AA6407-36E0-EC12-0E38-A19ACB3FE291}"/>
              </a:ext>
            </a:extLst>
          </p:cNvPr>
          <p:cNvGrpSpPr/>
          <p:nvPr/>
        </p:nvGrpSpPr>
        <p:grpSpPr>
          <a:xfrm>
            <a:off x="2185878" y="2405070"/>
            <a:ext cx="900888" cy="1228780"/>
            <a:chOff x="2185878" y="1538171"/>
            <a:chExt cx="900888" cy="122878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8570E9-F559-2F86-CFAB-3B676BD2B3C2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F433E5-F457-65F7-F513-01AA9F71A65D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F656FA-F4B0-94F5-0B81-3D5D16141ECF}"/>
              </a:ext>
            </a:extLst>
          </p:cNvPr>
          <p:cNvGrpSpPr/>
          <p:nvPr/>
        </p:nvGrpSpPr>
        <p:grpSpPr>
          <a:xfrm>
            <a:off x="4434444" y="2412521"/>
            <a:ext cx="900888" cy="1228780"/>
            <a:chOff x="2185878" y="1538171"/>
            <a:chExt cx="900888" cy="12287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998E6A-3EDB-A318-D43D-88844DEAA40F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18506-F7B5-7528-98F9-6EC52D1C8BBC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C3B666-B223-1945-F28E-3B0A7CD7800F}"/>
              </a:ext>
            </a:extLst>
          </p:cNvPr>
          <p:cNvGrpSpPr/>
          <p:nvPr/>
        </p:nvGrpSpPr>
        <p:grpSpPr>
          <a:xfrm>
            <a:off x="4905651" y="2160012"/>
            <a:ext cx="900888" cy="1481289"/>
            <a:chOff x="2185878" y="1538171"/>
            <a:chExt cx="900888" cy="148128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59C7307-6DC5-A7EB-A20F-9DD2B9DB85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5559" y="1888176"/>
              <a:ext cx="20763" cy="1131284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17C839-23A8-0705-18BB-11AE55EB8728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6DF34F-5985-C333-DD16-E61DCC999837}"/>
              </a:ext>
            </a:extLst>
          </p:cNvPr>
          <p:cNvGrpSpPr/>
          <p:nvPr/>
        </p:nvGrpSpPr>
        <p:grpSpPr>
          <a:xfrm>
            <a:off x="5581317" y="2412521"/>
            <a:ext cx="900888" cy="1228780"/>
            <a:chOff x="2185878" y="1538171"/>
            <a:chExt cx="900888" cy="1228780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884D117-F66C-CBE4-750B-D45708BF3B2E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652A06-49CD-A4B6-3020-E0B6CE30A645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C448E3-6613-87DB-4BB5-2401E80C9F4E}"/>
              </a:ext>
            </a:extLst>
          </p:cNvPr>
          <p:cNvGrpSpPr/>
          <p:nvPr/>
        </p:nvGrpSpPr>
        <p:grpSpPr>
          <a:xfrm>
            <a:off x="6728190" y="2412521"/>
            <a:ext cx="900888" cy="1228780"/>
            <a:chOff x="2185878" y="1538171"/>
            <a:chExt cx="900888" cy="122878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E67D792-2FD5-085E-1081-EBDACDC364C5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8A37891-5C28-0D5D-570B-3FCE9DA7FBDE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BE1C7E-5FFF-58BA-7248-88A74DF5D6AB}"/>
              </a:ext>
            </a:extLst>
          </p:cNvPr>
          <p:cNvGrpSpPr/>
          <p:nvPr/>
        </p:nvGrpSpPr>
        <p:grpSpPr>
          <a:xfrm>
            <a:off x="8775950" y="2405070"/>
            <a:ext cx="900888" cy="1228780"/>
            <a:chOff x="2185878" y="1538171"/>
            <a:chExt cx="900888" cy="12287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162D111-52FC-96DF-6BF6-8AFC4D724783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7244E5-EEDA-F0BD-F264-D1FCD6F01F67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F271B1-AD98-3ABE-978D-4E39494BF544}"/>
              </a:ext>
            </a:extLst>
          </p:cNvPr>
          <p:cNvGrpSpPr/>
          <p:nvPr/>
        </p:nvGrpSpPr>
        <p:grpSpPr>
          <a:xfrm>
            <a:off x="1109986" y="4051933"/>
            <a:ext cx="10560488" cy="381207"/>
            <a:chOff x="1109986" y="4051933"/>
            <a:chExt cx="10560488" cy="381207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F99DA12-92E5-225D-E483-BAB1474B4D19}"/>
                </a:ext>
              </a:extLst>
            </p:cNvPr>
            <p:cNvCxnSpPr/>
            <p:nvPr/>
          </p:nvCxnSpPr>
          <p:spPr>
            <a:xfrm>
              <a:off x="1417121" y="4433140"/>
              <a:ext cx="10253353" cy="0"/>
            </a:xfrm>
            <a:prstGeom prst="straightConnector1">
              <a:avLst/>
            </a:prstGeom>
            <a:ln w="57150"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76A5F56-F8B8-84AF-D446-BE49DB46BBB0}"/>
                </a:ext>
              </a:extLst>
            </p:cNvPr>
            <p:cNvSpPr txBox="1"/>
            <p:nvPr/>
          </p:nvSpPr>
          <p:spPr>
            <a:xfrm>
              <a:off x="1109986" y="4051933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88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BF8A020-26DF-1DA0-7753-F1138CE7BEF4}"/>
              </a:ext>
            </a:extLst>
          </p:cNvPr>
          <p:cNvSpPr/>
          <p:nvPr/>
        </p:nvSpPr>
        <p:spPr>
          <a:xfrm flipV="1">
            <a:off x="3532093" y="2175091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E88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88B1F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0B97AE0-EA81-84B8-7438-EDD7D940A1BD}"/>
              </a:ext>
            </a:extLst>
          </p:cNvPr>
          <p:cNvSpPr/>
          <p:nvPr/>
        </p:nvSpPr>
        <p:spPr>
          <a:xfrm flipH="1" flipV="1">
            <a:off x="6312554" y="2176310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E88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88B1F"/>
              </a:solidFill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622DC78-BA08-7C70-E645-5B1173C3898D}"/>
              </a:ext>
            </a:extLst>
          </p:cNvPr>
          <p:cNvSpPr/>
          <p:nvPr/>
        </p:nvSpPr>
        <p:spPr>
          <a:xfrm>
            <a:off x="3063834" y="3396343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6AB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116C8E0-1294-31D0-240E-F45399D0D47C}"/>
              </a:ext>
            </a:extLst>
          </p:cNvPr>
          <p:cNvSpPr/>
          <p:nvPr/>
        </p:nvSpPr>
        <p:spPr>
          <a:xfrm flipH="1">
            <a:off x="5630151" y="3396342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6AB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E0939-9787-CBB9-3686-96568FFA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39" y="367978"/>
            <a:ext cx="10515600" cy="1325563"/>
          </a:xfrm>
        </p:spPr>
        <p:txBody>
          <a:bodyPr/>
          <a:lstStyle/>
          <a:p>
            <a:r>
              <a:rPr lang="en-US" dirty="0"/>
              <a:t>Topical branches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35BBFA4-141B-28B3-8DC7-EF9FB1346896}"/>
              </a:ext>
            </a:extLst>
          </p:cNvPr>
          <p:cNvSpPr/>
          <p:nvPr/>
        </p:nvSpPr>
        <p:spPr>
          <a:xfrm>
            <a:off x="1417122" y="2755075"/>
            <a:ext cx="9357756" cy="8787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69F88-B638-FC1B-D6D9-9FEB8DE193CE}"/>
              </a:ext>
            </a:extLst>
          </p:cNvPr>
          <p:cNvSpPr txBox="1"/>
          <p:nvPr/>
        </p:nvSpPr>
        <p:spPr>
          <a:xfrm>
            <a:off x="1417122" y="2925184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AA6407-36E0-EC12-0E38-A19ACB3FE291}"/>
              </a:ext>
            </a:extLst>
          </p:cNvPr>
          <p:cNvGrpSpPr/>
          <p:nvPr/>
        </p:nvGrpSpPr>
        <p:grpSpPr>
          <a:xfrm>
            <a:off x="2185878" y="2405070"/>
            <a:ext cx="900888" cy="1228780"/>
            <a:chOff x="2185878" y="1538171"/>
            <a:chExt cx="900888" cy="122878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E8570E9-F559-2F86-CFAB-3B676BD2B3C2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F433E5-F457-65F7-F513-01AA9F71A65D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C448E3-6613-87DB-4BB5-2401E80C9F4E}"/>
              </a:ext>
            </a:extLst>
          </p:cNvPr>
          <p:cNvGrpSpPr/>
          <p:nvPr/>
        </p:nvGrpSpPr>
        <p:grpSpPr>
          <a:xfrm>
            <a:off x="6728190" y="2412521"/>
            <a:ext cx="900888" cy="1228780"/>
            <a:chOff x="2185878" y="1538171"/>
            <a:chExt cx="900888" cy="122878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E67D792-2FD5-085E-1081-EBDACDC364C5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8A37891-5C28-0D5D-570B-3FCE9DA7FBDE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BE1C7E-5FFF-58BA-7248-88A74DF5D6AB}"/>
              </a:ext>
            </a:extLst>
          </p:cNvPr>
          <p:cNvGrpSpPr/>
          <p:nvPr/>
        </p:nvGrpSpPr>
        <p:grpSpPr>
          <a:xfrm>
            <a:off x="8775950" y="2405070"/>
            <a:ext cx="900888" cy="1228780"/>
            <a:chOff x="2185878" y="1538171"/>
            <a:chExt cx="900888" cy="12287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162D111-52FC-96DF-6BF6-8AFC4D724783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7244E5-EEDA-F0BD-F264-D1FCD6F01F67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B49362-6B7A-116F-94F5-B749E05AF2D5}"/>
              </a:ext>
            </a:extLst>
          </p:cNvPr>
          <p:cNvCxnSpPr>
            <a:stCxn id="3" idx="3"/>
          </p:cNvCxnSpPr>
          <p:nvPr/>
        </p:nvCxnSpPr>
        <p:spPr>
          <a:xfrm>
            <a:off x="3895106" y="4251366"/>
            <a:ext cx="1735045" cy="0"/>
          </a:xfrm>
          <a:prstGeom prst="line">
            <a:avLst/>
          </a:prstGeom>
          <a:ln w="57150">
            <a:solidFill>
              <a:srgbClr val="6ABD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04CB61EB-CB61-A4D5-B3BC-27E083579D85}"/>
              </a:ext>
            </a:extLst>
          </p:cNvPr>
          <p:cNvGrpSpPr/>
          <p:nvPr/>
        </p:nvGrpSpPr>
        <p:grpSpPr>
          <a:xfrm>
            <a:off x="5878907" y="2405070"/>
            <a:ext cx="900888" cy="1228780"/>
            <a:chOff x="2185878" y="1538171"/>
            <a:chExt cx="900888" cy="122878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21C13E-32F8-0832-8501-4C23D09D68E0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F0A95FC-7F6A-EB6A-BBA3-E8557FCB0939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F94E58-3BD5-F334-0839-066044444DC6}"/>
              </a:ext>
            </a:extLst>
          </p:cNvPr>
          <p:cNvGrpSpPr/>
          <p:nvPr/>
        </p:nvGrpSpPr>
        <p:grpSpPr>
          <a:xfrm>
            <a:off x="3444662" y="4013859"/>
            <a:ext cx="900888" cy="939348"/>
            <a:chOff x="3444662" y="4013859"/>
            <a:chExt cx="900888" cy="93934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248E54-819E-0D65-696A-B832881F8810}"/>
                </a:ext>
              </a:extLst>
            </p:cNvPr>
            <p:cNvCxnSpPr>
              <a:cxnSpLocks/>
            </p:cNvCxnSpPr>
            <p:nvPr/>
          </p:nvCxnSpPr>
          <p:spPr>
            <a:xfrm>
              <a:off x="3929914" y="4013859"/>
              <a:ext cx="0" cy="570016"/>
            </a:xfrm>
            <a:prstGeom prst="line">
              <a:avLst/>
            </a:prstGeom>
            <a:ln w="57150">
              <a:solidFill>
                <a:srgbClr val="6ABD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176BF0-BB9B-57D2-9BE3-F4487782C3B7}"/>
                </a:ext>
              </a:extLst>
            </p:cNvPr>
            <p:cNvSpPr txBox="1"/>
            <p:nvPr/>
          </p:nvSpPr>
          <p:spPr>
            <a:xfrm>
              <a:off x="3444662" y="4583875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A6B677E-C6D8-69B3-5662-BE5710B08935}"/>
              </a:ext>
            </a:extLst>
          </p:cNvPr>
          <p:cNvGrpSpPr/>
          <p:nvPr/>
        </p:nvGrpSpPr>
        <p:grpSpPr>
          <a:xfrm>
            <a:off x="4102924" y="4013859"/>
            <a:ext cx="900888" cy="1151199"/>
            <a:chOff x="3444662" y="3802008"/>
            <a:chExt cx="900888" cy="1151199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64E1546-A805-5E2B-9035-0BC0E94189AB}"/>
                </a:ext>
              </a:extLst>
            </p:cNvPr>
            <p:cNvCxnSpPr>
              <a:cxnSpLocks/>
            </p:cNvCxnSpPr>
            <p:nvPr/>
          </p:nvCxnSpPr>
          <p:spPr>
            <a:xfrm>
              <a:off x="3929914" y="3802008"/>
              <a:ext cx="0" cy="781867"/>
            </a:xfrm>
            <a:prstGeom prst="line">
              <a:avLst/>
            </a:prstGeom>
            <a:ln w="57150">
              <a:solidFill>
                <a:srgbClr val="6ABD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2B211B-5FB3-DBD4-401E-55599B1C286D}"/>
                </a:ext>
              </a:extLst>
            </p:cNvPr>
            <p:cNvSpPr txBox="1"/>
            <p:nvPr/>
          </p:nvSpPr>
          <p:spPr>
            <a:xfrm>
              <a:off x="3444662" y="4583875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5C5CF1A-A010-C1FD-C6A2-39E8A9D1B2B9}"/>
              </a:ext>
            </a:extLst>
          </p:cNvPr>
          <p:cNvGrpSpPr/>
          <p:nvPr/>
        </p:nvGrpSpPr>
        <p:grpSpPr>
          <a:xfrm>
            <a:off x="5250250" y="4013859"/>
            <a:ext cx="900888" cy="939348"/>
            <a:chOff x="3444662" y="4013859"/>
            <a:chExt cx="900888" cy="93934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ED6711-64C1-1B2E-7BEC-574D468C207C}"/>
                </a:ext>
              </a:extLst>
            </p:cNvPr>
            <p:cNvCxnSpPr>
              <a:cxnSpLocks/>
            </p:cNvCxnSpPr>
            <p:nvPr/>
          </p:nvCxnSpPr>
          <p:spPr>
            <a:xfrm>
              <a:off x="3929914" y="4013859"/>
              <a:ext cx="0" cy="570016"/>
            </a:xfrm>
            <a:prstGeom prst="line">
              <a:avLst/>
            </a:prstGeom>
            <a:ln w="57150">
              <a:solidFill>
                <a:srgbClr val="6ABD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F65F284-D96D-5276-2374-348B1992831D}"/>
                </a:ext>
              </a:extLst>
            </p:cNvPr>
            <p:cNvSpPr txBox="1"/>
            <p:nvPr/>
          </p:nvSpPr>
          <p:spPr>
            <a:xfrm>
              <a:off x="3444662" y="4583875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26F3D9-D0D0-075C-784C-6D84907E7EB4}"/>
              </a:ext>
            </a:extLst>
          </p:cNvPr>
          <p:cNvCxnSpPr>
            <a:cxnSpLocks/>
          </p:cNvCxnSpPr>
          <p:nvPr/>
        </p:nvCxnSpPr>
        <p:spPr>
          <a:xfrm>
            <a:off x="4338964" y="2184371"/>
            <a:ext cx="2109933" cy="3246"/>
          </a:xfrm>
          <a:prstGeom prst="line">
            <a:avLst/>
          </a:prstGeom>
          <a:ln w="57150">
            <a:solidFill>
              <a:srgbClr val="E88B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8FB5F3-68A9-934F-E22F-FD44E26B8843}"/>
              </a:ext>
            </a:extLst>
          </p:cNvPr>
          <p:cNvGrpSpPr/>
          <p:nvPr/>
        </p:nvGrpSpPr>
        <p:grpSpPr>
          <a:xfrm>
            <a:off x="3749096" y="1560700"/>
            <a:ext cx="900888" cy="844370"/>
            <a:chOff x="3749096" y="1560700"/>
            <a:chExt cx="900888" cy="84437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D7EE354-A35E-7D13-DEC9-754853E3282D}"/>
                </a:ext>
              </a:extLst>
            </p:cNvPr>
            <p:cNvCxnSpPr>
              <a:cxnSpLocks/>
            </p:cNvCxnSpPr>
            <p:nvPr/>
          </p:nvCxnSpPr>
          <p:spPr>
            <a:xfrm>
              <a:off x="4199540" y="1910705"/>
              <a:ext cx="0" cy="494365"/>
            </a:xfrm>
            <a:prstGeom prst="line">
              <a:avLst/>
            </a:prstGeom>
            <a:ln w="57150">
              <a:solidFill>
                <a:srgbClr val="E88B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5E0DBE-50A4-F31A-62AF-4F45E806DD9F}"/>
                </a:ext>
              </a:extLst>
            </p:cNvPr>
            <p:cNvSpPr txBox="1"/>
            <p:nvPr/>
          </p:nvSpPr>
          <p:spPr>
            <a:xfrm>
              <a:off x="3749096" y="1560700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F77FD1-C19C-13EB-5051-EA2885D5144F}"/>
              </a:ext>
            </a:extLst>
          </p:cNvPr>
          <p:cNvGrpSpPr/>
          <p:nvPr/>
        </p:nvGrpSpPr>
        <p:grpSpPr>
          <a:xfrm>
            <a:off x="5352717" y="1543669"/>
            <a:ext cx="900888" cy="844370"/>
            <a:chOff x="3749096" y="1560700"/>
            <a:chExt cx="900888" cy="84437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B344E5-E20D-92B4-AEE3-454738C937CB}"/>
                </a:ext>
              </a:extLst>
            </p:cNvPr>
            <p:cNvCxnSpPr>
              <a:cxnSpLocks/>
            </p:cNvCxnSpPr>
            <p:nvPr/>
          </p:nvCxnSpPr>
          <p:spPr>
            <a:xfrm>
              <a:off x="4199540" y="1910705"/>
              <a:ext cx="0" cy="494365"/>
            </a:xfrm>
            <a:prstGeom prst="line">
              <a:avLst/>
            </a:prstGeom>
            <a:ln w="57150">
              <a:solidFill>
                <a:srgbClr val="E88B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45A5ED-080F-F46E-D59D-5EAD4D1D2D83}"/>
                </a:ext>
              </a:extLst>
            </p:cNvPr>
            <p:cNvSpPr txBox="1"/>
            <p:nvPr/>
          </p:nvSpPr>
          <p:spPr>
            <a:xfrm>
              <a:off x="3749096" y="1560700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501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3" grpId="0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B7737-4554-F945-F039-0826D4BD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D07B3ADE-88DB-8109-7EFC-C162968C61CF}"/>
              </a:ext>
            </a:extLst>
          </p:cNvPr>
          <p:cNvSpPr/>
          <p:nvPr/>
        </p:nvSpPr>
        <p:spPr>
          <a:xfrm flipV="1">
            <a:off x="3532093" y="2175091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E88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88B1F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0DFA4A0-57B7-6479-D63B-31A653357274}"/>
              </a:ext>
            </a:extLst>
          </p:cNvPr>
          <p:cNvSpPr/>
          <p:nvPr/>
        </p:nvSpPr>
        <p:spPr>
          <a:xfrm flipH="1" flipV="1">
            <a:off x="6312554" y="2176310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E88B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88B1F"/>
              </a:solidFill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720AADF-78B1-6DBC-FF29-5FFD5763460D}"/>
              </a:ext>
            </a:extLst>
          </p:cNvPr>
          <p:cNvSpPr/>
          <p:nvPr/>
        </p:nvSpPr>
        <p:spPr>
          <a:xfrm>
            <a:off x="3063834" y="3396343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6AB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078F633-F567-5386-FA68-0D878E2B615B}"/>
              </a:ext>
            </a:extLst>
          </p:cNvPr>
          <p:cNvSpPr/>
          <p:nvPr/>
        </p:nvSpPr>
        <p:spPr>
          <a:xfrm flipH="1">
            <a:off x="5630151" y="3396342"/>
            <a:ext cx="831272" cy="855023"/>
          </a:xfrm>
          <a:custGeom>
            <a:avLst/>
            <a:gdLst>
              <a:gd name="connsiteX0" fmla="*/ 0 w 831272"/>
              <a:gd name="connsiteY0" fmla="*/ 0 h 855023"/>
              <a:gd name="connsiteX1" fmla="*/ 320634 w 831272"/>
              <a:gd name="connsiteY1" fmla="*/ 142504 h 855023"/>
              <a:gd name="connsiteX2" fmla="*/ 486888 w 831272"/>
              <a:gd name="connsiteY2" fmla="*/ 771896 h 855023"/>
              <a:gd name="connsiteX3" fmla="*/ 831272 w 831272"/>
              <a:gd name="connsiteY3" fmla="*/ 855023 h 85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272" h="855023">
                <a:moveTo>
                  <a:pt x="0" y="0"/>
                </a:moveTo>
                <a:cubicBezTo>
                  <a:pt x="119743" y="6927"/>
                  <a:pt x="239486" y="13855"/>
                  <a:pt x="320634" y="142504"/>
                </a:cubicBezTo>
                <a:cubicBezTo>
                  <a:pt x="401782" y="271153"/>
                  <a:pt x="401782" y="653143"/>
                  <a:pt x="486888" y="771896"/>
                </a:cubicBezTo>
                <a:cubicBezTo>
                  <a:pt x="571994" y="890649"/>
                  <a:pt x="736269" y="843148"/>
                  <a:pt x="831272" y="855023"/>
                </a:cubicBezTo>
              </a:path>
            </a:pathLst>
          </a:custGeom>
          <a:noFill/>
          <a:ln w="57150">
            <a:solidFill>
              <a:srgbClr val="6ABD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1D654-F88A-07EA-06E8-DFAE3BFE9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39" y="367978"/>
            <a:ext cx="10515600" cy="1325563"/>
          </a:xfrm>
        </p:spPr>
        <p:txBody>
          <a:bodyPr/>
          <a:lstStyle/>
          <a:p>
            <a:r>
              <a:rPr lang="en-US" dirty="0"/>
              <a:t>Topical branches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705CC89-C4DA-7732-5DF0-310C8A27ECBA}"/>
              </a:ext>
            </a:extLst>
          </p:cNvPr>
          <p:cNvSpPr/>
          <p:nvPr/>
        </p:nvSpPr>
        <p:spPr>
          <a:xfrm>
            <a:off x="1417122" y="2755075"/>
            <a:ext cx="9357756" cy="8787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88738-9447-F4D5-76DD-B34EA4BCBA4C}"/>
              </a:ext>
            </a:extLst>
          </p:cNvPr>
          <p:cNvSpPr txBox="1"/>
          <p:nvPr/>
        </p:nvSpPr>
        <p:spPr>
          <a:xfrm>
            <a:off x="1417122" y="2925184"/>
            <a:ext cx="95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3DE7D5-0B48-ACD5-4764-CC57CAD8883A}"/>
              </a:ext>
            </a:extLst>
          </p:cNvPr>
          <p:cNvGrpSpPr/>
          <p:nvPr/>
        </p:nvGrpSpPr>
        <p:grpSpPr>
          <a:xfrm>
            <a:off x="2185878" y="2405070"/>
            <a:ext cx="900888" cy="1228780"/>
            <a:chOff x="2185878" y="1538171"/>
            <a:chExt cx="900888" cy="122878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2F923F-5B83-59BB-D674-51E93EB53703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570C02-BAE7-F1EC-585E-B73B49955D29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33DD8A-7068-3F4F-947B-EC8D5F374D0C}"/>
              </a:ext>
            </a:extLst>
          </p:cNvPr>
          <p:cNvGrpSpPr/>
          <p:nvPr/>
        </p:nvGrpSpPr>
        <p:grpSpPr>
          <a:xfrm>
            <a:off x="6728190" y="2412521"/>
            <a:ext cx="900888" cy="1228780"/>
            <a:chOff x="2185878" y="1538171"/>
            <a:chExt cx="900888" cy="122878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D92977-7147-0285-8D39-3132FAD05293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263766-D665-8C34-74C9-A33D16962CBD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28DCB8-79C2-976C-8339-8AAFA6875793}"/>
              </a:ext>
            </a:extLst>
          </p:cNvPr>
          <p:cNvGrpSpPr/>
          <p:nvPr/>
        </p:nvGrpSpPr>
        <p:grpSpPr>
          <a:xfrm>
            <a:off x="8775950" y="2405070"/>
            <a:ext cx="900888" cy="1228780"/>
            <a:chOff x="2185878" y="1538171"/>
            <a:chExt cx="900888" cy="12287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14D3CDC-7F74-2409-CBCA-9A0EDB06C499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16775E-D315-CE38-17D5-DB5413A43E94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9912F2-4BC6-2CB1-8625-BF8E99573B90}"/>
              </a:ext>
            </a:extLst>
          </p:cNvPr>
          <p:cNvCxnSpPr>
            <a:stCxn id="3" idx="3"/>
          </p:cNvCxnSpPr>
          <p:nvPr/>
        </p:nvCxnSpPr>
        <p:spPr>
          <a:xfrm>
            <a:off x="3895106" y="4251366"/>
            <a:ext cx="1735045" cy="0"/>
          </a:xfrm>
          <a:prstGeom prst="line">
            <a:avLst/>
          </a:prstGeom>
          <a:ln w="57150">
            <a:solidFill>
              <a:srgbClr val="6ABD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ADB1278-4C8D-69EE-B2E6-C99B4041F446}"/>
              </a:ext>
            </a:extLst>
          </p:cNvPr>
          <p:cNvGrpSpPr/>
          <p:nvPr/>
        </p:nvGrpSpPr>
        <p:grpSpPr>
          <a:xfrm>
            <a:off x="5878907" y="2405070"/>
            <a:ext cx="900888" cy="1228780"/>
            <a:chOff x="2185878" y="1538171"/>
            <a:chExt cx="900888" cy="122878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8036CE-D5FA-BBC2-B285-FD70493D3556}"/>
                </a:ext>
              </a:extLst>
            </p:cNvPr>
            <p:cNvCxnSpPr/>
            <p:nvPr/>
          </p:nvCxnSpPr>
          <p:spPr>
            <a:xfrm>
              <a:off x="2636322" y="1888176"/>
              <a:ext cx="0" cy="87877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F11E67-A3A2-C263-7AED-237F68C25306}"/>
                </a:ext>
              </a:extLst>
            </p:cNvPr>
            <p:cNvSpPr txBox="1"/>
            <p:nvPr/>
          </p:nvSpPr>
          <p:spPr>
            <a:xfrm>
              <a:off x="2185878" y="1538171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5AE6D57-1815-A645-FAE2-1290395D2E0D}"/>
              </a:ext>
            </a:extLst>
          </p:cNvPr>
          <p:cNvGrpSpPr/>
          <p:nvPr/>
        </p:nvGrpSpPr>
        <p:grpSpPr>
          <a:xfrm>
            <a:off x="3444662" y="4013859"/>
            <a:ext cx="900888" cy="939348"/>
            <a:chOff x="3444662" y="4013859"/>
            <a:chExt cx="900888" cy="939348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3BE1527-DD0B-4A54-EAE6-69A3000AACB8}"/>
                </a:ext>
              </a:extLst>
            </p:cNvPr>
            <p:cNvCxnSpPr>
              <a:cxnSpLocks/>
            </p:cNvCxnSpPr>
            <p:nvPr/>
          </p:nvCxnSpPr>
          <p:spPr>
            <a:xfrm>
              <a:off x="3929914" y="4013859"/>
              <a:ext cx="0" cy="570016"/>
            </a:xfrm>
            <a:prstGeom prst="line">
              <a:avLst/>
            </a:prstGeom>
            <a:ln w="57150">
              <a:solidFill>
                <a:srgbClr val="6ABD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3574D9F-D148-4581-550A-DFAC65C9EEA2}"/>
                </a:ext>
              </a:extLst>
            </p:cNvPr>
            <p:cNvSpPr txBox="1"/>
            <p:nvPr/>
          </p:nvSpPr>
          <p:spPr>
            <a:xfrm>
              <a:off x="3444662" y="4583875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CDA7199-F886-5939-6799-CC175824B052}"/>
              </a:ext>
            </a:extLst>
          </p:cNvPr>
          <p:cNvGrpSpPr/>
          <p:nvPr/>
        </p:nvGrpSpPr>
        <p:grpSpPr>
          <a:xfrm>
            <a:off x="4102924" y="4013859"/>
            <a:ext cx="900888" cy="1151199"/>
            <a:chOff x="3444662" y="3802008"/>
            <a:chExt cx="900888" cy="1151199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6C187F-7122-2C7B-E067-88860766232C}"/>
                </a:ext>
              </a:extLst>
            </p:cNvPr>
            <p:cNvCxnSpPr>
              <a:cxnSpLocks/>
            </p:cNvCxnSpPr>
            <p:nvPr/>
          </p:nvCxnSpPr>
          <p:spPr>
            <a:xfrm>
              <a:off x="3929914" y="3802008"/>
              <a:ext cx="0" cy="781867"/>
            </a:xfrm>
            <a:prstGeom prst="line">
              <a:avLst/>
            </a:prstGeom>
            <a:ln w="57150">
              <a:solidFill>
                <a:srgbClr val="6ABD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F6B39C-7851-D345-39B6-71879F98277E}"/>
                </a:ext>
              </a:extLst>
            </p:cNvPr>
            <p:cNvSpPr txBox="1"/>
            <p:nvPr/>
          </p:nvSpPr>
          <p:spPr>
            <a:xfrm>
              <a:off x="3444662" y="4583875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05DB4F-3EAF-8370-E2AB-B923CB88A10B}"/>
              </a:ext>
            </a:extLst>
          </p:cNvPr>
          <p:cNvGrpSpPr/>
          <p:nvPr/>
        </p:nvGrpSpPr>
        <p:grpSpPr>
          <a:xfrm>
            <a:off x="5250250" y="4013859"/>
            <a:ext cx="900888" cy="939348"/>
            <a:chOff x="3444662" y="4013859"/>
            <a:chExt cx="900888" cy="93934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6AC2DD-2CA0-4F19-6B2D-F5A7582CE02B}"/>
                </a:ext>
              </a:extLst>
            </p:cNvPr>
            <p:cNvCxnSpPr>
              <a:cxnSpLocks/>
            </p:cNvCxnSpPr>
            <p:nvPr/>
          </p:nvCxnSpPr>
          <p:spPr>
            <a:xfrm>
              <a:off x="3929914" y="4013859"/>
              <a:ext cx="0" cy="570016"/>
            </a:xfrm>
            <a:prstGeom prst="line">
              <a:avLst/>
            </a:prstGeom>
            <a:ln w="57150">
              <a:solidFill>
                <a:srgbClr val="6ABD4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871450-EBEB-184B-AFFA-8F766648F920}"/>
                </a:ext>
              </a:extLst>
            </p:cNvPr>
            <p:cNvSpPr txBox="1"/>
            <p:nvPr/>
          </p:nvSpPr>
          <p:spPr>
            <a:xfrm>
              <a:off x="3444662" y="4583875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3AFC98-8147-41C5-717E-183F856DEF9F}"/>
              </a:ext>
            </a:extLst>
          </p:cNvPr>
          <p:cNvCxnSpPr>
            <a:cxnSpLocks/>
          </p:cNvCxnSpPr>
          <p:nvPr/>
        </p:nvCxnSpPr>
        <p:spPr>
          <a:xfrm>
            <a:off x="4338964" y="2184371"/>
            <a:ext cx="2109933" cy="3246"/>
          </a:xfrm>
          <a:prstGeom prst="line">
            <a:avLst/>
          </a:prstGeom>
          <a:ln w="57150">
            <a:solidFill>
              <a:srgbClr val="E88B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7D12E5A-293F-030C-AAC3-9FF216717FB5}"/>
              </a:ext>
            </a:extLst>
          </p:cNvPr>
          <p:cNvGrpSpPr/>
          <p:nvPr/>
        </p:nvGrpSpPr>
        <p:grpSpPr>
          <a:xfrm>
            <a:off x="3749096" y="1560700"/>
            <a:ext cx="900888" cy="844370"/>
            <a:chOff x="3749096" y="1560700"/>
            <a:chExt cx="900888" cy="84437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98A763-57CA-9836-C8A2-72307743A57A}"/>
                </a:ext>
              </a:extLst>
            </p:cNvPr>
            <p:cNvCxnSpPr>
              <a:cxnSpLocks/>
            </p:cNvCxnSpPr>
            <p:nvPr/>
          </p:nvCxnSpPr>
          <p:spPr>
            <a:xfrm>
              <a:off x="4199540" y="1910705"/>
              <a:ext cx="0" cy="494365"/>
            </a:xfrm>
            <a:prstGeom prst="line">
              <a:avLst/>
            </a:prstGeom>
            <a:ln w="57150">
              <a:solidFill>
                <a:srgbClr val="E88B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611A8E-5545-3626-250A-320482880719}"/>
                </a:ext>
              </a:extLst>
            </p:cNvPr>
            <p:cNvSpPr txBox="1"/>
            <p:nvPr/>
          </p:nvSpPr>
          <p:spPr>
            <a:xfrm>
              <a:off x="3749096" y="1560700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AA34DA-00E4-5FB7-003F-2B5AAF597C6A}"/>
              </a:ext>
            </a:extLst>
          </p:cNvPr>
          <p:cNvGrpSpPr/>
          <p:nvPr/>
        </p:nvGrpSpPr>
        <p:grpSpPr>
          <a:xfrm>
            <a:off x="5352717" y="1543669"/>
            <a:ext cx="900888" cy="844370"/>
            <a:chOff x="3749096" y="1560700"/>
            <a:chExt cx="900888" cy="84437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047CF-C590-5AEA-680D-20B037B7B62E}"/>
                </a:ext>
              </a:extLst>
            </p:cNvPr>
            <p:cNvCxnSpPr>
              <a:cxnSpLocks/>
            </p:cNvCxnSpPr>
            <p:nvPr/>
          </p:nvCxnSpPr>
          <p:spPr>
            <a:xfrm>
              <a:off x="4199540" y="1910705"/>
              <a:ext cx="0" cy="494365"/>
            </a:xfrm>
            <a:prstGeom prst="line">
              <a:avLst/>
            </a:prstGeom>
            <a:ln w="57150">
              <a:solidFill>
                <a:srgbClr val="E88B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FEBF02-B08D-1D15-8FA3-E0F3474ADA1D}"/>
                </a:ext>
              </a:extLst>
            </p:cNvPr>
            <p:cNvSpPr txBox="1"/>
            <p:nvPr/>
          </p:nvSpPr>
          <p:spPr>
            <a:xfrm>
              <a:off x="3749096" y="1560700"/>
              <a:ext cx="90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commit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59B425-E059-36A1-5BBE-AA715E849DDC}"/>
              </a:ext>
            </a:extLst>
          </p:cNvPr>
          <p:cNvGrpSpPr/>
          <p:nvPr/>
        </p:nvGrpSpPr>
        <p:grpSpPr>
          <a:xfrm>
            <a:off x="256798" y="3201913"/>
            <a:ext cx="3222672" cy="2911853"/>
            <a:chOff x="256798" y="3201913"/>
            <a:chExt cx="3222672" cy="291185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C5F904B-7218-92C7-A6D7-7971D16756C7}"/>
                </a:ext>
              </a:extLst>
            </p:cNvPr>
            <p:cNvSpPr txBox="1"/>
            <p:nvPr/>
          </p:nvSpPr>
          <p:spPr>
            <a:xfrm>
              <a:off x="256798" y="4359440"/>
              <a:ext cx="297111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Both made a copy of Main. There were no changes between the time green branched and orange branched. They have the same Main code.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03483DB-BF87-8BCE-76A1-BAEDE971A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435" y="3201913"/>
              <a:ext cx="1105035" cy="115752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1469321-9FA5-FF8B-4567-FE077E4CC169}"/>
              </a:ext>
            </a:extLst>
          </p:cNvPr>
          <p:cNvSpPr/>
          <p:nvPr/>
        </p:nvSpPr>
        <p:spPr>
          <a:xfrm>
            <a:off x="6425798" y="2816358"/>
            <a:ext cx="612676" cy="734364"/>
          </a:xfrm>
          <a:prstGeom prst="roundRect">
            <a:avLst/>
          </a:prstGeom>
          <a:solidFill>
            <a:srgbClr val="EC56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3CBBF3-E712-A092-C425-769BF6C99378}"/>
              </a:ext>
            </a:extLst>
          </p:cNvPr>
          <p:cNvGrpSpPr/>
          <p:nvPr/>
        </p:nvGrpSpPr>
        <p:grpSpPr>
          <a:xfrm>
            <a:off x="6728190" y="3267544"/>
            <a:ext cx="2358390" cy="1797171"/>
            <a:chOff x="6728190" y="3267544"/>
            <a:chExt cx="2358390" cy="179717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F6F77D-0004-C713-6A67-887A105B3099}"/>
                </a:ext>
              </a:extLst>
            </p:cNvPr>
            <p:cNvSpPr txBox="1"/>
            <p:nvPr/>
          </p:nvSpPr>
          <p:spPr>
            <a:xfrm>
              <a:off x="7491698" y="4695383"/>
              <a:ext cx="1594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EC5637"/>
                  </a:solidFill>
                </a:rPr>
                <a:t>merge conflict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C6621A9-81A4-F238-057F-C4D75F1B53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8190" y="3267544"/>
              <a:ext cx="1383024" cy="14278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190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3" grpId="0" animBg="1"/>
      <p:bldP spid="4" grpId="0" animBg="1"/>
      <p:bldP spid="5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3E13ACC-6553-7DDD-20C4-85A7CF6C5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355" y="1763178"/>
            <a:ext cx="6008645" cy="228630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4B716C-3ECF-B739-93F5-BB7644F9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14" y="336943"/>
            <a:ext cx="11084321" cy="810532"/>
          </a:xfrm>
        </p:spPr>
        <p:txBody>
          <a:bodyPr>
            <a:normAutofit/>
          </a:bodyPr>
          <a:lstStyle/>
          <a:p>
            <a:r>
              <a:rPr lang="en-US" dirty="0"/>
              <a:t>Resolving issues – change to your issue branch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C15A66-4A9B-6A1D-2016-4CAB851C6804}"/>
              </a:ext>
            </a:extLst>
          </p:cNvPr>
          <p:cNvSpPr/>
          <p:nvPr/>
        </p:nvSpPr>
        <p:spPr>
          <a:xfrm>
            <a:off x="4457205" y="1662238"/>
            <a:ext cx="1753590" cy="534697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4279CD5-35F3-ECA2-D0DF-E0B2D3BA0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205" y="3939174"/>
            <a:ext cx="7772400" cy="245828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849AE3-F0D6-000C-9D62-9C96D6D9B597}"/>
              </a:ext>
            </a:extLst>
          </p:cNvPr>
          <p:cNvSpPr/>
          <p:nvPr/>
        </p:nvSpPr>
        <p:spPr>
          <a:xfrm>
            <a:off x="8248402" y="4203865"/>
            <a:ext cx="1638795" cy="296883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EFFB6A-E87B-0757-0F78-5D27F844B51E}"/>
              </a:ext>
            </a:extLst>
          </p:cNvPr>
          <p:cNvCxnSpPr/>
          <p:nvPr/>
        </p:nvCxnSpPr>
        <p:spPr>
          <a:xfrm flipH="1">
            <a:off x="9286504" y="4500748"/>
            <a:ext cx="308758" cy="1264268"/>
          </a:xfrm>
          <a:prstGeom prst="straightConnector1">
            <a:avLst/>
          </a:prstGeom>
          <a:ln w="28575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DBF8B6-A341-F1CE-9ABA-9606F81062EF}"/>
              </a:ext>
            </a:extLst>
          </p:cNvPr>
          <p:cNvSpPr txBox="1"/>
          <p:nvPr/>
        </p:nvSpPr>
        <p:spPr>
          <a:xfrm>
            <a:off x="8547426" y="3517522"/>
            <a:ext cx="227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Select the new branch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7D99DF-0C70-3424-C067-219999D17E86}"/>
              </a:ext>
            </a:extLst>
          </p:cNvPr>
          <p:cNvSpPr txBox="1"/>
          <p:nvPr/>
        </p:nvSpPr>
        <p:spPr>
          <a:xfrm>
            <a:off x="4959855" y="1270660"/>
            <a:ext cx="524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Fetch origin to get the latest changes to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1856989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13DF-8760-FBA8-C891-1FF8F334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issues – do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F7F0-5A73-94F2-01B0-6F184878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the work necessary to resolve the issue.</a:t>
            </a:r>
          </a:p>
          <a:p>
            <a:endParaRPr lang="en-US" dirty="0"/>
          </a:p>
          <a:p>
            <a:r>
              <a:rPr lang="en-US" dirty="0"/>
              <a:t>You can still commit. Just make sure you are on your issue branch.</a:t>
            </a:r>
          </a:p>
          <a:p>
            <a:endParaRPr lang="en-US" dirty="0"/>
          </a:p>
          <a:p>
            <a:r>
              <a:rPr lang="en-US" dirty="0"/>
              <a:t>You can push your issue branch to GitHub if you want.</a:t>
            </a:r>
          </a:p>
        </p:txBody>
      </p:sp>
    </p:spTree>
    <p:extLst>
      <p:ext uri="{BB962C8B-B14F-4D97-AF65-F5344CB8AC3E}">
        <p14:creationId xmlns:p14="http://schemas.microsoft.com/office/powerpoint/2010/main" val="933244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B529A-D01F-7EA5-D5C9-B4D7D175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40" y="207128"/>
            <a:ext cx="10515600" cy="977327"/>
          </a:xfrm>
        </p:spPr>
        <p:txBody>
          <a:bodyPr/>
          <a:lstStyle/>
          <a:p>
            <a:r>
              <a:rPr lang="en-US" dirty="0"/>
              <a:t>Resolving issues – finishing up the work</a:t>
            </a:r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BBEB26D-BA45-ADE5-CFEA-43ABB5871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49" y="2655599"/>
            <a:ext cx="4327401" cy="74806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3746B29-E77D-D485-4F9F-CB083327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602" y="1690688"/>
            <a:ext cx="6875049" cy="4585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568A4E-5D45-EE4D-DBA3-3C8661D7562D}"/>
              </a:ext>
            </a:extLst>
          </p:cNvPr>
          <p:cNvSpPr txBox="1"/>
          <p:nvPr/>
        </p:nvSpPr>
        <p:spPr>
          <a:xfrm>
            <a:off x="558140" y="2196935"/>
            <a:ext cx="20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From GitHub Issues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462958A-BBB6-D6E5-DBA9-A4F4E154E067}"/>
              </a:ext>
            </a:extLst>
          </p:cNvPr>
          <p:cNvSpPr/>
          <p:nvPr/>
        </p:nvSpPr>
        <p:spPr>
          <a:xfrm>
            <a:off x="838200" y="3029630"/>
            <a:ext cx="420584" cy="283586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FDEE1-FB0E-BA4D-9BE1-A57CE13499F6}"/>
              </a:ext>
            </a:extLst>
          </p:cNvPr>
          <p:cNvSpPr txBox="1"/>
          <p:nvPr/>
        </p:nvSpPr>
        <p:spPr>
          <a:xfrm>
            <a:off x="268349" y="3468935"/>
            <a:ext cx="408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I’m working on Issue #3 for this repository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513362-6208-59AD-7779-20B6119E8B21}"/>
              </a:ext>
            </a:extLst>
          </p:cNvPr>
          <p:cNvSpPr/>
          <p:nvPr/>
        </p:nvSpPr>
        <p:spPr>
          <a:xfrm>
            <a:off x="4447152" y="4883726"/>
            <a:ext cx="1454883" cy="283586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77F65-1D2D-23E4-6B16-1D02229F3E53}"/>
              </a:ext>
            </a:extLst>
          </p:cNvPr>
          <p:cNvSpPr txBox="1"/>
          <p:nvPr/>
        </p:nvSpPr>
        <p:spPr>
          <a:xfrm>
            <a:off x="682663" y="4567147"/>
            <a:ext cx="3764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When the issue is resolved, I’ll use the keywork </a:t>
            </a:r>
            <a:r>
              <a:rPr lang="en-US" b="1" i="1" dirty="0">
                <a:solidFill>
                  <a:srgbClr val="EC5637"/>
                </a:solidFill>
                <a:highlight>
                  <a:srgbClr val="FFFF00"/>
                </a:highlight>
              </a:rPr>
              <a:t>Closes #</a:t>
            </a:r>
            <a:r>
              <a:rPr lang="en-US" i="1" dirty="0">
                <a:solidFill>
                  <a:srgbClr val="EC5637"/>
                </a:solidFill>
                <a:highlight>
                  <a:srgbClr val="FFFF00"/>
                </a:highlight>
              </a:rPr>
              <a:t> </a:t>
            </a:r>
            <a:r>
              <a:rPr lang="en-US" i="1" dirty="0">
                <a:solidFill>
                  <a:srgbClr val="EC5637"/>
                </a:solidFill>
              </a:rPr>
              <a:t>followed by the issue number and then my commit message.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83BE87C-3CAA-A48C-B18C-2B7C7EC92AEF}"/>
              </a:ext>
            </a:extLst>
          </p:cNvPr>
          <p:cNvSpPr/>
          <p:nvPr/>
        </p:nvSpPr>
        <p:spPr>
          <a:xfrm>
            <a:off x="8486126" y="1548895"/>
            <a:ext cx="1643526" cy="648040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A4076-E4A9-AD5A-ADB8-FF750B877ACE}"/>
              </a:ext>
            </a:extLst>
          </p:cNvPr>
          <p:cNvSpPr txBox="1"/>
          <p:nvPr/>
        </p:nvSpPr>
        <p:spPr>
          <a:xfrm>
            <a:off x="7961581" y="1108667"/>
            <a:ext cx="3547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Be sure you are on the issue branch.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A3C66-3FDF-7A38-BC80-0A4AF0E1A203}"/>
              </a:ext>
            </a:extLst>
          </p:cNvPr>
          <p:cNvSpPr txBox="1"/>
          <p:nvPr/>
        </p:nvSpPr>
        <p:spPr>
          <a:xfrm>
            <a:off x="7756167" y="6304484"/>
            <a:ext cx="3211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After committing, </a:t>
            </a:r>
            <a:r>
              <a:rPr lang="en-US" b="1" i="1" dirty="0">
                <a:solidFill>
                  <a:srgbClr val="EC5637"/>
                </a:solidFill>
              </a:rPr>
              <a:t>Push to origin</a:t>
            </a:r>
          </a:p>
        </p:txBody>
      </p:sp>
    </p:spTree>
    <p:extLst>
      <p:ext uri="{BB962C8B-B14F-4D97-AF65-F5344CB8AC3E}">
        <p14:creationId xmlns:p14="http://schemas.microsoft.com/office/powerpoint/2010/main" val="9693029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BC48-6CF8-3AAF-CA26-6D91774B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75" y="426171"/>
            <a:ext cx="10515600" cy="834283"/>
          </a:xfrm>
        </p:spPr>
        <p:txBody>
          <a:bodyPr/>
          <a:lstStyle/>
          <a:p>
            <a:r>
              <a:rPr lang="en-US" dirty="0"/>
              <a:t>Resolving issues – 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32B68-9222-6331-C606-5A25D1DC2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75" y="1723139"/>
            <a:ext cx="10515600" cy="478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you commit and Push to origin, you can see your commit.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AA7D57A-881A-6589-E42A-53271D42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75" y="2438750"/>
            <a:ext cx="11220650" cy="278417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8A954A-4181-D961-893A-CB5D3EC9DE14}"/>
              </a:ext>
            </a:extLst>
          </p:cNvPr>
          <p:cNvSpPr/>
          <p:nvPr/>
        </p:nvSpPr>
        <p:spPr>
          <a:xfrm>
            <a:off x="1425039" y="2438750"/>
            <a:ext cx="1104405" cy="328201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4E5B2D-2DFD-B26F-2B65-18292417E14A}"/>
              </a:ext>
            </a:extLst>
          </p:cNvPr>
          <p:cNvSpPr/>
          <p:nvPr/>
        </p:nvSpPr>
        <p:spPr>
          <a:xfrm>
            <a:off x="1565564" y="2766951"/>
            <a:ext cx="1104405" cy="328201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5D8EC7-B115-FAB2-0371-A955B9503C76}"/>
              </a:ext>
            </a:extLst>
          </p:cNvPr>
          <p:cNvCxnSpPr/>
          <p:nvPr/>
        </p:nvCxnSpPr>
        <p:spPr>
          <a:xfrm>
            <a:off x="1240970" y="3512127"/>
            <a:ext cx="1116281" cy="0"/>
          </a:xfrm>
          <a:prstGeom prst="straightConnector1">
            <a:avLst/>
          </a:prstGeom>
          <a:ln w="76200">
            <a:solidFill>
              <a:srgbClr val="EC563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E2AD8D-2E5D-7A5E-28AE-0DE5B5B5F2C6}"/>
              </a:ext>
            </a:extLst>
          </p:cNvPr>
          <p:cNvSpPr txBox="1">
            <a:spLocks/>
          </p:cNvSpPr>
          <p:nvPr/>
        </p:nvSpPr>
        <p:spPr>
          <a:xfrm>
            <a:off x="485675" y="5075762"/>
            <a:ext cx="10288756" cy="478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Click </a:t>
            </a:r>
            <a:r>
              <a:rPr lang="en-US" b="1" dirty="0"/>
              <a:t>Compare &amp; Pull Request</a:t>
            </a:r>
          </a:p>
        </p:txBody>
      </p:sp>
    </p:spTree>
    <p:extLst>
      <p:ext uri="{BB962C8B-B14F-4D97-AF65-F5344CB8AC3E}">
        <p14:creationId xmlns:p14="http://schemas.microsoft.com/office/powerpoint/2010/main" val="3778847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96FC-9ADD-27A1-BE52-8FD01CD6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343"/>
          </a:xfrm>
        </p:spPr>
        <p:txBody>
          <a:bodyPr/>
          <a:lstStyle/>
          <a:p>
            <a:r>
              <a:rPr lang="en-US" dirty="0"/>
              <a:t>Resolving issues – creating a new pull request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37016B5-D0F2-0334-1192-96BD728EF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96" y="1425039"/>
            <a:ext cx="7772400" cy="527562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7EA1DC-9959-13E1-F331-A156B8E46346}"/>
              </a:ext>
            </a:extLst>
          </p:cNvPr>
          <p:cNvSpPr/>
          <p:nvPr/>
        </p:nvSpPr>
        <p:spPr>
          <a:xfrm>
            <a:off x="7350826" y="2683823"/>
            <a:ext cx="2173184" cy="593767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ABFEA8-E337-6F62-158C-0842B829D0B8}"/>
              </a:ext>
            </a:extLst>
          </p:cNvPr>
          <p:cNvSpPr/>
          <p:nvPr/>
        </p:nvSpPr>
        <p:spPr>
          <a:xfrm>
            <a:off x="2159330" y="3132116"/>
            <a:ext cx="3936670" cy="593767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B6A157-824B-4D2B-B3C7-28D8852B28E6}"/>
              </a:ext>
            </a:extLst>
          </p:cNvPr>
          <p:cNvSpPr/>
          <p:nvPr/>
        </p:nvSpPr>
        <p:spPr>
          <a:xfrm>
            <a:off x="5961413" y="4692246"/>
            <a:ext cx="1510146" cy="475066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D4469F-D997-92BC-5174-451F2A598A64}"/>
              </a:ext>
            </a:extLst>
          </p:cNvPr>
          <p:cNvSpPr txBox="1"/>
          <p:nvPr/>
        </p:nvSpPr>
        <p:spPr>
          <a:xfrm>
            <a:off x="2567904" y="3725883"/>
            <a:ext cx="340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Add a description of what you did.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31DA05-0D44-213A-4A14-F5D0E8F75160}"/>
              </a:ext>
            </a:extLst>
          </p:cNvPr>
          <p:cNvSpPr txBox="1"/>
          <p:nvPr/>
        </p:nvSpPr>
        <p:spPr>
          <a:xfrm>
            <a:off x="9624096" y="2380541"/>
            <a:ext cx="1990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Assign the pull request to yourself or the repository owner.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6EBAC-858A-B9FE-9DD0-BD5E89AE3B98}"/>
              </a:ext>
            </a:extLst>
          </p:cNvPr>
          <p:cNvSpPr txBox="1"/>
          <p:nvPr/>
        </p:nvSpPr>
        <p:spPr>
          <a:xfrm>
            <a:off x="4986333" y="5248294"/>
            <a:ext cx="2364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Create the pull request.</a:t>
            </a:r>
          </a:p>
        </p:txBody>
      </p:sp>
    </p:spTree>
    <p:extLst>
      <p:ext uri="{BB962C8B-B14F-4D97-AF65-F5344CB8AC3E}">
        <p14:creationId xmlns:p14="http://schemas.microsoft.com/office/powerpoint/2010/main" val="27991273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52C8-5767-2078-F7C2-6D46412B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issues – viewing pull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1EDF5-5F53-85AA-9D9A-431D01416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94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View pull requests where the author feels they are ready to become part of the code base.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7918D20-0A9E-BE6D-407E-FCF68DE5B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64" y="3004452"/>
            <a:ext cx="10682035" cy="3182592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55C91B-C09B-8BBA-ED93-A377051C4CAC}"/>
              </a:ext>
            </a:extLst>
          </p:cNvPr>
          <p:cNvSpPr/>
          <p:nvPr/>
        </p:nvSpPr>
        <p:spPr>
          <a:xfrm>
            <a:off x="2753097" y="4462152"/>
            <a:ext cx="3936670" cy="593767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8B19FB-4C6B-F919-CD74-4D0C7A6AF359}"/>
              </a:ext>
            </a:extLst>
          </p:cNvPr>
          <p:cNvSpPr/>
          <p:nvPr/>
        </p:nvSpPr>
        <p:spPr>
          <a:xfrm>
            <a:off x="1706089" y="3354778"/>
            <a:ext cx="1167740" cy="411128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404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8CCF-C7B5-8BAD-BCA7-7B00EBA3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8" y="115804"/>
            <a:ext cx="10515600" cy="1325563"/>
          </a:xfrm>
        </p:spPr>
        <p:txBody>
          <a:bodyPr/>
          <a:lstStyle/>
          <a:p>
            <a:r>
              <a:rPr lang="en-US" dirty="0"/>
              <a:t>Resolving issue – accept the pull request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22CE866-37C8-AEE5-155D-A1EA600B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03" y="1441367"/>
            <a:ext cx="5599374" cy="517912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1F8C488-9914-1D27-10EE-3635AC7C3900}"/>
              </a:ext>
            </a:extLst>
          </p:cNvPr>
          <p:cNvSpPr/>
          <p:nvPr/>
        </p:nvSpPr>
        <p:spPr>
          <a:xfrm>
            <a:off x="1306286" y="6145426"/>
            <a:ext cx="1761506" cy="475066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D790F-192A-9A95-18C1-BB366CE8CC01}"/>
              </a:ext>
            </a:extLst>
          </p:cNvPr>
          <p:cNvSpPr txBox="1"/>
          <p:nvPr/>
        </p:nvSpPr>
        <p:spPr>
          <a:xfrm>
            <a:off x="8217724" y="3570814"/>
            <a:ext cx="2722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Confirm merge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B2362-79C5-0B96-2025-59E40A43E2A7}"/>
              </a:ext>
            </a:extLst>
          </p:cNvPr>
          <p:cNvSpPr txBox="1"/>
          <p:nvPr/>
        </p:nvSpPr>
        <p:spPr>
          <a:xfrm>
            <a:off x="8298194" y="4863246"/>
            <a:ext cx="2561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Delete branch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BD0B81-2C05-CA4F-04AD-FDE8A533459C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9578737" y="4155589"/>
            <a:ext cx="1" cy="7076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19E1E26A-7A09-3880-CD79-143922668C27}"/>
              </a:ext>
            </a:extLst>
          </p:cNvPr>
          <p:cNvCxnSpPr>
            <a:stCxn id="6" idx="3"/>
            <a:endCxn id="7" idx="0"/>
          </p:cNvCxnSpPr>
          <p:nvPr/>
        </p:nvCxnSpPr>
        <p:spPr>
          <a:xfrm flipV="1">
            <a:off x="3067792" y="3570814"/>
            <a:ext cx="6510946" cy="2812145"/>
          </a:xfrm>
          <a:prstGeom prst="bentConnector4">
            <a:avLst>
              <a:gd name="adj1" fmla="val 64900"/>
              <a:gd name="adj2" fmla="val 133889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37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4FA8-330F-B9C6-7E97-B3E51ACF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issues – finishing 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7027B-E051-D045-B9BB-7A5C732CBE1B}"/>
              </a:ext>
            </a:extLst>
          </p:cNvPr>
          <p:cNvSpPr txBox="1"/>
          <p:nvPr/>
        </p:nvSpPr>
        <p:spPr>
          <a:xfrm>
            <a:off x="4372348" y="4857008"/>
            <a:ext cx="155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Issue is closed.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17AF87-D87B-9BD9-2A52-4655B0EA503B}"/>
              </a:ext>
            </a:extLst>
          </p:cNvPr>
          <p:cNvGrpSpPr/>
          <p:nvPr/>
        </p:nvGrpSpPr>
        <p:grpSpPr>
          <a:xfrm>
            <a:off x="654257" y="1454563"/>
            <a:ext cx="7053818" cy="3672650"/>
            <a:chOff x="4299982" y="2820225"/>
            <a:chExt cx="7053818" cy="3672650"/>
          </a:xfrm>
        </p:grpSpPr>
        <p:pic>
          <p:nvPicPr>
            <p:cNvPr id="8" name="Content Placeholder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256BB0B-21FE-6380-C74C-DBF5C35B2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99982" y="2820225"/>
              <a:ext cx="7053818" cy="36726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7D3EA4-0D61-F4B5-50AA-EC6FA13763AD}"/>
                </a:ext>
              </a:extLst>
            </p:cNvPr>
            <p:cNvSpPr txBox="1"/>
            <p:nvPr/>
          </p:nvSpPr>
          <p:spPr>
            <a:xfrm>
              <a:off x="4372348" y="4949083"/>
              <a:ext cx="15556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EC5637"/>
                  </a:solidFill>
                </a:rPr>
                <a:t>Issue is closed.</a:t>
              </a:r>
            </a:p>
          </p:txBody>
        </p:sp>
      </p:grpSp>
      <p:pic>
        <p:nvPicPr>
          <p:cNvPr id="13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FF16795-7419-5655-819A-A4F7CDEF3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4630" y="4644699"/>
            <a:ext cx="5089814" cy="1900055"/>
          </a:xfr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174D26-060A-9405-4147-1692BFE5C690}"/>
              </a:ext>
            </a:extLst>
          </p:cNvPr>
          <p:cNvSpPr/>
          <p:nvPr/>
        </p:nvSpPr>
        <p:spPr>
          <a:xfrm>
            <a:off x="9139051" y="4524499"/>
            <a:ext cx="1484416" cy="618198"/>
          </a:xfrm>
          <a:prstGeom prst="roundRect">
            <a:avLst/>
          </a:prstGeom>
          <a:noFill/>
          <a:ln w="28575">
            <a:solidFill>
              <a:srgbClr val="EC5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D7712A-1E40-DC02-385D-466562901F54}"/>
              </a:ext>
            </a:extLst>
          </p:cNvPr>
          <p:cNvSpPr txBox="1"/>
          <p:nvPr/>
        </p:nvSpPr>
        <p:spPr>
          <a:xfrm>
            <a:off x="8534399" y="4095067"/>
            <a:ext cx="281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EC5637"/>
                </a:solidFill>
              </a:rPr>
              <a:t>Switch back to main branch.</a:t>
            </a:r>
          </a:p>
        </p:txBody>
      </p:sp>
    </p:spTree>
    <p:extLst>
      <p:ext uri="{BB962C8B-B14F-4D97-AF65-F5344CB8AC3E}">
        <p14:creationId xmlns:p14="http://schemas.microsoft.com/office/powerpoint/2010/main" val="2720908449"/>
      </p:ext>
    </p:extLst>
  </p:cSld>
  <p:clrMapOvr>
    <a:masterClrMapping/>
  </p:clrMapOvr>
</p:sld>
</file>

<file path=ppt/theme/theme1.xml><?xml version="1.0" encoding="utf-8"?>
<a:theme xmlns:a="http://schemas.openxmlformats.org/drawingml/2006/main" name="U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UI" id="{46C82F90-59B1-9A43-9F76-0B4BD52CDA3B}" vid="{5F0DB315-6230-DE49-92E3-F0CF0213AA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UI</Template>
  <TotalTime>7684</TotalTime>
  <Words>1766</Words>
  <Application>Microsoft Office PowerPoint</Application>
  <PresentationFormat>Widescreen</PresentationFormat>
  <Paragraphs>373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Segoe UI</vt:lpstr>
      <vt:lpstr>source-serif-pro</vt:lpstr>
      <vt:lpstr>Wingdings</vt:lpstr>
      <vt:lpstr>UI</vt:lpstr>
      <vt:lpstr>Office Theme</vt:lpstr>
      <vt:lpstr>GitHub &amp; Project Sharing</vt:lpstr>
      <vt:lpstr>Google Colab</vt:lpstr>
      <vt:lpstr>IDAS – Interactive Data Analytics Service </vt:lpstr>
      <vt:lpstr>Why do we need version control?</vt:lpstr>
      <vt:lpstr>What is version control?</vt:lpstr>
      <vt:lpstr>Git</vt:lpstr>
      <vt:lpstr>Local version control flow</vt:lpstr>
      <vt:lpstr>Main branch</vt:lpstr>
      <vt:lpstr>PowerPoint Presentation</vt:lpstr>
      <vt:lpstr>Remote repository flow</vt:lpstr>
      <vt:lpstr>How do I create a repository?</vt:lpstr>
      <vt:lpstr>Step 1: Create the repository on GitHub</vt:lpstr>
      <vt:lpstr>Step 2: Clone the repository from GitHub</vt:lpstr>
      <vt:lpstr>Cloning a remote repository</vt:lpstr>
      <vt:lpstr>Local repository (project folder)</vt:lpstr>
      <vt:lpstr>How do I work on my project?</vt:lpstr>
      <vt:lpstr>Add new files and folders to local project folder</vt:lpstr>
      <vt:lpstr>Step 3: Work on your project</vt:lpstr>
      <vt:lpstr>PowerPoint Presentation</vt:lpstr>
      <vt:lpstr>How do I commit my work?</vt:lpstr>
      <vt:lpstr>Commits (these are local)</vt:lpstr>
      <vt:lpstr>Step 4: Copy your local repository to your remote repository</vt:lpstr>
      <vt:lpstr>Push</vt:lpstr>
      <vt:lpstr>Why should I use topical branches?</vt:lpstr>
      <vt:lpstr>Main branch</vt:lpstr>
      <vt:lpstr>Topical branches</vt:lpstr>
      <vt:lpstr>How can I ensure code quality?</vt:lpstr>
      <vt:lpstr>Jupyter Notebook Utilities</vt:lpstr>
      <vt:lpstr>Formatting utilities</vt:lpstr>
      <vt:lpstr>Linter Utilities</vt:lpstr>
      <vt:lpstr>Security Utilities</vt:lpstr>
      <vt:lpstr>Code Quality Run Order</vt:lpstr>
      <vt:lpstr>What needs to be in my repository?</vt:lpstr>
      <vt:lpstr>Project structure</vt:lpstr>
      <vt:lpstr>Project README.md</vt:lpstr>
      <vt:lpstr>What about….?</vt:lpstr>
      <vt:lpstr>Jupyter Notebook template</vt:lpstr>
      <vt:lpstr>How do I work on a team?</vt:lpstr>
      <vt:lpstr>Adding collaborators</vt:lpstr>
      <vt:lpstr>PowerPoint Presentation</vt:lpstr>
      <vt:lpstr>Creating new issues</vt:lpstr>
      <vt:lpstr>Resolving issues – assign yourself an issue</vt:lpstr>
      <vt:lpstr>Why should I use branches on a team?</vt:lpstr>
      <vt:lpstr>Main branch</vt:lpstr>
      <vt:lpstr>Topical branches</vt:lpstr>
      <vt:lpstr>Topical branches</vt:lpstr>
      <vt:lpstr>Resolving issues – change to your issue branch</vt:lpstr>
      <vt:lpstr>Resolving issues – do the work</vt:lpstr>
      <vt:lpstr>Resolving issues – finishing up the work</vt:lpstr>
      <vt:lpstr>Resolving issues – pull request</vt:lpstr>
      <vt:lpstr>Resolving issues – creating a new pull request</vt:lpstr>
      <vt:lpstr>Resolving issues – viewing pull requests</vt:lpstr>
      <vt:lpstr>Resolving issue – accept the pull request</vt:lpstr>
      <vt:lpstr>Resolving issues – finishing up</vt:lpstr>
    </vt:vector>
  </TitlesOfParts>
  <Company>The University of Iowa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Delivery Network</dc:title>
  <dc:creator>Michael Colbert</dc:creator>
  <cp:lastModifiedBy>Redmond, Michael A</cp:lastModifiedBy>
  <cp:revision>173</cp:revision>
  <dcterms:created xsi:type="dcterms:W3CDTF">2017-03-27T16:00:59Z</dcterms:created>
  <dcterms:modified xsi:type="dcterms:W3CDTF">2025-04-30T10:43:48Z</dcterms:modified>
</cp:coreProperties>
</file>